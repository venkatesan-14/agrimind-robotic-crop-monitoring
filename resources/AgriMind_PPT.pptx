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75" r:id="rId3"/>
    <p:sldId id="258" r:id="rId4"/>
    <p:sldId id="259" r:id="rId5"/>
    <p:sldId id="260" r:id="rId6"/>
    <p:sldId id="261" r:id="rId7"/>
    <p:sldId id="262" r:id="rId8"/>
    <p:sldId id="263" r:id="rId9"/>
    <p:sldId id="264" r:id="rId10"/>
    <p:sldId id="265" r:id="rId11"/>
    <p:sldId id="266" r:id="rId12"/>
    <p:sldId id="267" r:id="rId13"/>
    <p:sldId id="268" r:id="rId14"/>
    <p:sldId id="272" r:id="rId15"/>
    <p:sldId id="273" r:id="rId16"/>
    <p:sldId id="276" r:id="rId17"/>
    <p:sldId id="270"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j95GIJMPiAIq6ieNG2WJyDCl5SE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D51FC1-FF23-491C-8935-2F356F841BCC}" v="1" dt="2026-07-21T13:47:14.233"/>
  </p1510:revLst>
</p1510:revInfo>
</file>

<file path=ppt/tableStyles.xml><?xml version="1.0" encoding="utf-8"?>
<a:tblStyleLst xmlns:a="http://schemas.openxmlformats.org/drawingml/2006/main" def="{2C294917-DC56-4E23-8613-8D8DCECCCFD7}">
  <a:tblStyle styleId="{2C294917-DC56-4E23-8613-8D8DCECCCFD7}"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56D70C72-A230-495A-A0E0-260AFDBB6498}"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1508"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esan V" userId="93c09b05740e9241" providerId="LiveId" clId="{4B2C5E7D-9D18-47DB-A0B3-B6CEBBA62A1C}"/>
    <pc:docChg chg="custSel addSld delSld modSld">
      <pc:chgData name="Venkatesan V" userId="93c09b05740e9241" providerId="LiveId" clId="{4B2C5E7D-9D18-47DB-A0B3-B6CEBBA62A1C}" dt="2026-07-21T13:48:53.817" v="40" actId="478"/>
      <pc:docMkLst>
        <pc:docMk/>
      </pc:docMkLst>
      <pc:sldChg chg="modSp add mod">
        <pc:chgData name="Venkatesan V" userId="93c09b05740e9241" providerId="LiveId" clId="{4B2C5E7D-9D18-47DB-A0B3-B6CEBBA62A1C}" dt="2026-07-21T13:48:18.654" v="27" actId="403"/>
        <pc:sldMkLst>
          <pc:docMk/>
          <pc:sldMk cId="0" sldId="256"/>
        </pc:sldMkLst>
        <pc:spChg chg="mod">
          <ac:chgData name="Venkatesan V" userId="93c09b05740e9241" providerId="LiveId" clId="{4B2C5E7D-9D18-47DB-A0B3-B6CEBBA62A1C}" dt="2026-07-21T13:48:18.654" v="27" actId="403"/>
          <ac:spMkLst>
            <pc:docMk/>
            <pc:sldMk cId="0" sldId="256"/>
            <ac:spMk id="6" creationId="{00000000-0000-0000-0000-000000000000}"/>
          </ac:spMkLst>
        </pc:spChg>
      </pc:sldChg>
      <pc:sldChg chg="delSp mod">
        <pc:chgData name="Venkatesan V" userId="93c09b05740e9241" providerId="LiveId" clId="{4B2C5E7D-9D18-47DB-A0B3-B6CEBBA62A1C}" dt="2026-07-21T13:48:29.764" v="29" actId="478"/>
        <pc:sldMkLst>
          <pc:docMk/>
          <pc:sldMk cId="0" sldId="258"/>
        </pc:sldMkLst>
        <pc:picChg chg="del">
          <ac:chgData name="Venkatesan V" userId="93c09b05740e9241" providerId="LiveId" clId="{4B2C5E7D-9D18-47DB-A0B3-B6CEBBA62A1C}" dt="2026-07-21T13:48:29.764" v="29" actId="478"/>
          <ac:picMkLst>
            <pc:docMk/>
            <pc:sldMk cId="0" sldId="258"/>
            <ac:picMk id="2" creationId="{779E95D0-F979-00F1-9408-F0639795020D}"/>
          </ac:picMkLst>
        </pc:picChg>
      </pc:sldChg>
      <pc:sldChg chg="delSp mod">
        <pc:chgData name="Venkatesan V" userId="93c09b05740e9241" providerId="LiveId" clId="{4B2C5E7D-9D18-47DB-A0B3-B6CEBBA62A1C}" dt="2026-07-21T13:48:31.737" v="30" actId="478"/>
        <pc:sldMkLst>
          <pc:docMk/>
          <pc:sldMk cId="0" sldId="259"/>
        </pc:sldMkLst>
        <pc:picChg chg="del">
          <ac:chgData name="Venkatesan V" userId="93c09b05740e9241" providerId="LiveId" clId="{4B2C5E7D-9D18-47DB-A0B3-B6CEBBA62A1C}" dt="2026-07-21T13:48:31.737" v="30" actId="478"/>
          <ac:picMkLst>
            <pc:docMk/>
            <pc:sldMk cId="0" sldId="259"/>
            <ac:picMk id="3" creationId="{487A9E98-736C-BA47-AA9D-ACC18D4C6DD5}"/>
          </ac:picMkLst>
        </pc:picChg>
      </pc:sldChg>
      <pc:sldChg chg="delSp mod">
        <pc:chgData name="Venkatesan V" userId="93c09b05740e9241" providerId="LiveId" clId="{4B2C5E7D-9D18-47DB-A0B3-B6CEBBA62A1C}" dt="2026-07-21T13:48:33.842" v="31" actId="478"/>
        <pc:sldMkLst>
          <pc:docMk/>
          <pc:sldMk cId="0" sldId="260"/>
        </pc:sldMkLst>
        <pc:picChg chg="del">
          <ac:chgData name="Venkatesan V" userId="93c09b05740e9241" providerId="LiveId" clId="{4B2C5E7D-9D18-47DB-A0B3-B6CEBBA62A1C}" dt="2026-07-21T13:48:33.842" v="31" actId="478"/>
          <ac:picMkLst>
            <pc:docMk/>
            <pc:sldMk cId="0" sldId="260"/>
            <ac:picMk id="2" creationId="{C2AC3CF0-6407-0821-411C-8F2C2ABC4B06}"/>
          </ac:picMkLst>
        </pc:picChg>
      </pc:sldChg>
      <pc:sldChg chg="delSp mod">
        <pc:chgData name="Venkatesan V" userId="93c09b05740e9241" providerId="LiveId" clId="{4B2C5E7D-9D18-47DB-A0B3-B6CEBBA62A1C}" dt="2026-07-21T13:48:36.227" v="32" actId="478"/>
        <pc:sldMkLst>
          <pc:docMk/>
          <pc:sldMk cId="0" sldId="261"/>
        </pc:sldMkLst>
        <pc:picChg chg="del">
          <ac:chgData name="Venkatesan V" userId="93c09b05740e9241" providerId="LiveId" clId="{4B2C5E7D-9D18-47DB-A0B3-B6CEBBA62A1C}" dt="2026-07-21T13:48:36.227" v="32" actId="478"/>
          <ac:picMkLst>
            <pc:docMk/>
            <pc:sldMk cId="0" sldId="261"/>
            <ac:picMk id="3" creationId="{A2D96A98-9A9E-207A-0B55-5FB2971D0D12}"/>
          </ac:picMkLst>
        </pc:picChg>
      </pc:sldChg>
      <pc:sldChg chg="delSp mod">
        <pc:chgData name="Venkatesan V" userId="93c09b05740e9241" providerId="LiveId" clId="{4B2C5E7D-9D18-47DB-A0B3-B6CEBBA62A1C}" dt="2026-07-21T13:48:38.398" v="33" actId="478"/>
        <pc:sldMkLst>
          <pc:docMk/>
          <pc:sldMk cId="0" sldId="262"/>
        </pc:sldMkLst>
        <pc:picChg chg="del">
          <ac:chgData name="Venkatesan V" userId="93c09b05740e9241" providerId="LiveId" clId="{4B2C5E7D-9D18-47DB-A0B3-B6CEBBA62A1C}" dt="2026-07-21T13:48:38.398" v="33" actId="478"/>
          <ac:picMkLst>
            <pc:docMk/>
            <pc:sldMk cId="0" sldId="262"/>
            <ac:picMk id="2" creationId="{66041723-1D08-676D-588F-A457D6D21585}"/>
          </ac:picMkLst>
        </pc:picChg>
      </pc:sldChg>
      <pc:sldChg chg="delSp mod">
        <pc:chgData name="Venkatesan V" userId="93c09b05740e9241" providerId="LiveId" clId="{4B2C5E7D-9D18-47DB-A0B3-B6CEBBA62A1C}" dt="2026-07-21T13:48:40.259" v="34" actId="478"/>
        <pc:sldMkLst>
          <pc:docMk/>
          <pc:sldMk cId="0" sldId="263"/>
        </pc:sldMkLst>
        <pc:picChg chg="del">
          <ac:chgData name="Venkatesan V" userId="93c09b05740e9241" providerId="LiveId" clId="{4B2C5E7D-9D18-47DB-A0B3-B6CEBBA62A1C}" dt="2026-07-21T13:48:40.259" v="34" actId="478"/>
          <ac:picMkLst>
            <pc:docMk/>
            <pc:sldMk cId="0" sldId="263"/>
            <ac:picMk id="2" creationId="{D7E3ABA8-A0AC-E611-CC8E-7B2CEB755B91}"/>
          </ac:picMkLst>
        </pc:picChg>
      </pc:sldChg>
      <pc:sldChg chg="delSp mod">
        <pc:chgData name="Venkatesan V" userId="93c09b05740e9241" providerId="LiveId" clId="{4B2C5E7D-9D18-47DB-A0B3-B6CEBBA62A1C}" dt="2026-07-21T13:48:41.923" v="35" actId="478"/>
        <pc:sldMkLst>
          <pc:docMk/>
          <pc:sldMk cId="0" sldId="264"/>
        </pc:sldMkLst>
        <pc:picChg chg="del">
          <ac:chgData name="Venkatesan V" userId="93c09b05740e9241" providerId="LiveId" clId="{4B2C5E7D-9D18-47DB-A0B3-B6CEBBA62A1C}" dt="2026-07-21T13:48:41.923" v="35" actId="478"/>
          <ac:picMkLst>
            <pc:docMk/>
            <pc:sldMk cId="0" sldId="264"/>
            <ac:picMk id="2" creationId="{66720E66-E26F-5061-BC4D-60CA941EAE5A}"/>
          </ac:picMkLst>
        </pc:picChg>
      </pc:sldChg>
      <pc:sldChg chg="delSp mod">
        <pc:chgData name="Venkatesan V" userId="93c09b05740e9241" providerId="LiveId" clId="{4B2C5E7D-9D18-47DB-A0B3-B6CEBBA62A1C}" dt="2026-07-21T13:48:43.948" v="36" actId="478"/>
        <pc:sldMkLst>
          <pc:docMk/>
          <pc:sldMk cId="0" sldId="265"/>
        </pc:sldMkLst>
        <pc:picChg chg="del">
          <ac:chgData name="Venkatesan V" userId="93c09b05740e9241" providerId="LiveId" clId="{4B2C5E7D-9D18-47DB-A0B3-B6CEBBA62A1C}" dt="2026-07-21T13:48:43.948" v="36" actId="478"/>
          <ac:picMkLst>
            <pc:docMk/>
            <pc:sldMk cId="0" sldId="265"/>
            <ac:picMk id="3" creationId="{C06D343F-2EE3-53B5-5C61-9F8077963D13}"/>
          </ac:picMkLst>
        </pc:picChg>
      </pc:sldChg>
      <pc:sldChg chg="delSp mod">
        <pc:chgData name="Venkatesan V" userId="93c09b05740e9241" providerId="LiveId" clId="{4B2C5E7D-9D18-47DB-A0B3-B6CEBBA62A1C}" dt="2026-07-21T13:48:47.983" v="37" actId="478"/>
        <pc:sldMkLst>
          <pc:docMk/>
          <pc:sldMk cId="0" sldId="266"/>
        </pc:sldMkLst>
        <pc:picChg chg="del">
          <ac:chgData name="Venkatesan V" userId="93c09b05740e9241" providerId="LiveId" clId="{4B2C5E7D-9D18-47DB-A0B3-B6CEBBA62A1C}" dt="2026-07-21T13:48:47.983" v="37" actId="478"/>
          <ac:picMkLst>
            <pc:docMk/>
            <pc:sldMk cId="0" sldId="266"/>
            <ac:picMk id="2" creationId="{BA5A2F83-86CF-A124-C319-1288076E8FDE}"/>
          </ac:picMkLst>
        </pc:picChg>
      </pc:sldChg>
      <pc:sldChg chg="delSp mod">
        <pc:chgData name="Venkatesan V" userId="93c09b05740e9241" providerId="LiveId" clId="{4B2C5E7D-9D18-47DB-A0B3-B6CEBBA62A1C}" dt="2026-07-21T13:48:49.702" v="38" actId="478"/>
        <pc:sldMkLst>
          <pc:docMk/>
          <pc:sldMk cId="0" sldId="268"/>
        </pc:sldMkLst>
        <pc:picChg chg="del">
          <ac:chgData name="Venkatesan V" userId="93c09b05740e9241" providerId="LiveId" clId="{4B2C5E7D-9D18-47DB-A0B3-B6CEBBA62A1C}" dt="2026-07-21T13:48:49.702" v="38" actId="478"/>
          <ac:picMkLst>
            <pc:docMk/>
            <pc:sldMk cId="0" sldId="268"/>
            <ac:picMk id="5" creationId="{38C71371-1387-E650-1D04-F6D7177043A5}"/>
          </ac:picMkLst>
        </pc:picChg>
      </pc:sldChg>
      <pc:sldChg chg="delSp mod">
        <pc:chgData name="Venkatesan V" userId="93c09b05740e9241" providerId="LiveId" clId="{4B2C5E7D-9D18-47DB-A0B3-B6CEBBA62A1C}" dt="2026-07-21T13:48:51.699" v="39" actId="478"/>
        <pc:sldMkLst>
          <pc:docMk/>
          <pc:sldMk cId="426180261" sldId="272"/>
        </pc:sldMkLst>
        <pc:picChg chg="del">
          <ac:chgData name="Venkatesan V" userId="93c09b05740e9241" providerId="LiveId" clId="{4B2C5E7D-9D18-47DB-A0B3-B6CEBBA62A1C}" dt="2026-07-21T13:48:51.699" v="39" actId="478"/>
          <ac:picMkLst>
            <pc:docMk/>
            <pc:sldMk cId="426180261" sldId="272"/>
            <ac:picMk id="3" creationId="{037F0393-7404-8E7F-D860-90BC11B2CA9F}"/>
          </ac:picMkLst>
        </pc:picChg>
      </pc:sldChg>
      <pc:sldChg chg="delSp mod">
        <pc:chgData name="Venkatesan V" userId="93c09b05740e9241" providerId="LiveId" clId="{4B2C5E7D-9D18-47DB-A0B3-B6CEBBA62A1C}" dt="2026-07-21T13:48:53.817" v="40" actId="478"/>
        <pc:sldMkLst>
          <pc:docMk/>
          <pc:sldMk cId="2995950573" sldId="273"/>
        </pc:sldMkLst>
        <pc:picChg chg="del">
          <ac:chgData name="Venkatesan V" userId="93c09b05740e9241" providerId="LiveId" clId="{4B2C5E7D-9D18-47DB-A0B3-B6CEBBA62A1C}" dt="2026-07-21T13:48:53.817" v="40" actId="478"/>
          <ac:picMkLst>
            <pc:docMk/>
            <pc:sldMk cId="2995950573" sldId="273"/>
            <ac:picMk id="4" creationId="{6FA93139-955B-A8D9-0D89-34E3C123EAEA}"/>
          </ac:picMkLst>
        </pc:picChg>
      </pc:sldChg>
      <pc:sldChg chg="delSp mod">
        <pc:chgData name="Venkatesan V" userId="93c09b05740e9241" providerId="LiveId" clId="{4B2C5E7D-9D18-47DB-A0B3-B6CEBBA62A1C}" dt="2026-07-21T13:48:27.454" v="28" actId="478"/>
        <pc:sldMkLst>
          <pc:docMk/>
          <pc:sldMk cId="3912313742" sldId="275"/>
        </pc:sldMkLst>
        <pc:picChg chg="del">
          <ac:chgData name="Venkatesan V" userId="93c09b05740e9241" providerId="LiveId" clId="{4B2C5E7D-9D18-47DB-A0B3-B6CEBBA62A1C}" dt="2026-07-21T13:48:27.454" v="28" actId="478"/>
          <ac:picMkLst>
            <pc:docMk/>
            <pc:sldMk cId="3912313742" sldId="275"/>
            <ac:picMk id="5" creationId="{9B0A0F5D-A9CD-3369-0730-E49E3E153EFB}"/>
          </ac:picMkLst>
        </pc:picChg>
      </pc:sldChg>
      <pc:sldChg chg="del">
        <pc:chgData name="Venkatesan V" userId="93c09b05740e9241" providerId="LiveId" clId="{4B2C5E7D-9D18-47DB-A0B3-B6CEBBA62A1C}" dt="2026-07-21T13:47:15.987" v="1" actId="47"/>
        <pc:sldMkLst>
          <pc:docMk/>
          <pc:sldMk cId="2684426288" sldId="277"/>
        </pc:sldMkLst>
      </pc:sldChg>
      <pc:sldMasterChg chg="delSldLayout">
        <pc:chgData name="Venkatesan V" userId="93c09b05740e9241" providerId="LiveId" clId="{4B2C5E7D-9D18-47DB-A0B3-B6CEBBA62A1C}" dt="2026-07-21T13:47:15.987" v="1" actId="47"/>
        <pc:sldMasterMkLst>
          <pc:docMk/>
          <pc:sldMasterMk cId="0" sldId="2147483648"/>
        </pc:sldMasterMkLst>
        <pc:sldLayoutChg chg="del">
          <pc:chgData name="Venkatesan V" userId="93c09b05740e9241" providerId="LiveId" clId="{4B2C5E7D-9D18-47DB-A0B3-B6CEBBA62A1C}" dt="2026-07-21T13:47:15.987" v="1" actId="47"/>
          <pc:sldLayoutMkLst>
            <pc:docMk/>
            <pc:sldMasterMk cId="0" sldId="2147483648"/>
            <pc:sldLayoutMk cId="0"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480779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0718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5"/>
          <p:cNvSpPr>
            <a:spLocks noGrp="1"/>
          </p:cNvSpPr>
          <p:nvPr>
            <p:ph type="pic" idx="2"/>
          </p:nvPr>
        </p:nvSpPr>
        <p:spPr>
          <a:xfrm>
            <a:off x="1792288" y="612775"/>
            <a:ext cx="5486400" cy="4114800"/>
          </a:xfrm>
          <a:prstGeom prst="rect">
            <a:avLst/>
          </a:prstGeom>
          <a:noFill/>
          <a:ln>
            <a:noFill/>
          </a:ln>
        </p:spPr>
      </p:sp>
      <p:sp>
        <p:nvSpPr>
          <p:cNvPr id="68" name="Google Shape;68;p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20395" y="857250"/>
            <a:ext cx="103505" cy="2419350"/>
          </a:xfrm>
          <a:custGeom>
            <a:avLst/>
            <a:gdLst/>
            <a:ahLst/>
            <a:cxnLst/>
            <a:rect l="l" t="t" r="r" b="b"/>
            <a:pathLst>
              <a:path w="207009" h="4838700">
                <a:moveTo>
                  <a:pt x="207009" y="0"/>
                </a:moveTo>
                <a:lnTo>
                  <a:pt x="0" y="0"/>
                </a:lnTo>
                <a:lnTo>
                  <a:pt x="0" y="4838700"/>
                </a:lnTo>
                <a:lnTo>
                  <a:pt x="207009" y="4838700"/>
                </a:lnTo>
                <a:lnTo>
                  <a:pt x="207009" y="0"/>
                </a:lnTo>
                <a:close/>
              </a:path>
            </a:pathLst>
          </a:custGeom>
          <a:solidFill>
            <a:srgbClr val="F8B313"/>
          </a:solidFill>
        </p:spPr>
        <p:txBody>
          <a:bodyPr wrap="square" lIns="0" tIns="0" rIns="0" bIns="0" rtlCol="0"/>
          <a:lstStyle/>
          <a:p>
            <a:endParaRPr sz="700"/>
          </a:p>
        </p:txBody>
      </p:sp>
      <p:sp>
        <p:nvSpPr>
          <p:cNvPr id="3" name="object 3"/>
          <p:cNvSpPr txBox="1">
            <a:spLocks noGrp="1"/>
          </p:cNvSpPr>
          <p:nvPr>
            <p:ph type="title"/>
          </p:nvPr>
        </p:nvSpPr>
        <p:spPr>
          <a:xfrm>
            <a:off x="1020826" y="732620"/>
            <a:ext cx="5415598" cy="2172711"/>
          </a:xfrm>
          <a:prstGeom prst="rect">
            <a:avLst/>
          </a:prstGeom>
        </p:spPr>
        <p:txBody>
          <a:bodyPr spcFirstLastPara="1" vert="horz" wrap="square" lIns="0" tIns="178118" rIns="0" bIns="0" rtlCol="0" anchor="ctr" anchorCtr="0">
            <a:spAutoFit/>
          </a:bodyPr>
          <a:lstStyle/>
          <a:p>
            <a:pPr marL="6350">
              <a:spcBef>
                <a:spcPts val="1403"/>
              </a:spcBef>
            </a:pPr>
            <a:r>
              <a:rPr sz="4350" b="1" spc="-50" dirty="0">
                <a:solidFill>
                  <a:srgbClr val="1211C9"/>
                </a:solidFill>
                <a:latin typeface="Verdana"/>
                <a:cs typeface="Verdana"/>
              </a:rPr>
              <a:t>PROJECT</a:t>
            </a:r>
            <a:r>
              <a:rPr sz="4350" b="1" spc="-310" dirty="0">
                <a:solidFill>
                  <a:srgbClr val="1211C9"/>
                </a:solidFill>
                <a:latin typeface="Verdana"/>
                <a:cs typeface="Verdana"/>
              </a:rPr>
              <a:t> </a:t>
            </a:r>
            <a:r>
              <a:rPr sz="4350" b="1" spc="-315" dirty="0">
                <a:solidFill>
                  <a:srgbClr val="1211C9"/>
                </a:solidFill>
                <a:latin typeface="Verdana"/>
                <a:cs typeface="Verdana"/>
              </a:rPr>
              <a:t>TITLE</a:t>
            </a:r>
            <a:endParaRPr sz="4350">
              <a:latin typeface="Verdana"/>
              <a:cs typeface="Verdana"/>
            </a:endParaRPr>
          </a:p>
          <a:p>
            <a:pPr marL="39688" marR="2540">
              <a:spcBef>
                <a:spcPts val="1028"/>
              </a:spcBef>
            </a:pPr>
            <a:r>
              <a:rPr sz="3300" dirty="0"/>
              <a:t>AgriMind:</a:t>
            </a:r>
            <a:r>
              <a:rPr sz="3300" spc="-15" dirty="0"/>
              <a:t> </a:t>
            </a:r>
            <a:r>
              <a:rPr sz="3300" dirty="0"/>
              <a:t>A</a:t>
            </a:r>
            <a:r>
              <a:rPr sz="3300" spc="-15" dirty="0"/>
              <a:t> </a:t>
            </a:r>
            <a:r>
              <a:rPr sz="3300" dirty="0"/>
              <a:t>Mobile</a:t>
            </a:r>
            <a:r>
              <a:rPr sz="3300" spc="-28" dirty="0"/>
              <a:t> </a:t>
            </a:r>
            <a:r>
              <a:rPr sz="3300" spc="-5" dirty="0"/>
              <a:t>IoT-Robotic </a:t>
            </a:r>
            <a:r>
              <a:rPr sz="3300" spc="-13" dirty="0"/>
              <a:t>System</a:t>
            </a:r>
            <a:r>
              <a:rPr sz="3300" spc="-110" dirty="0"/>
              <a:t> </a:t>
            </a:r>
            <a:r>
              <a:rPr sz="3300" dirty="0"/>
              <a:t>for</a:t>
            </a:r>
            <a:r>
              <a:rPr sz="3300" spc="-125" dirty="0"/>
              <a:t> </a:t>
            </a:r>
            <a:r>
              <a:rPr sz="3300" dirty="0"/>
              <a:t>Paddy</a:t>
            </a:r>
            <a:r>
              <a:rPr sz="3300" spc="-123" dirty="0"/>
              <a:t> </a:t>
            </a:r>
            <a:r>
              <a:rPr sz="3300" spc="-5" dirty="0"/>
              <a:t>Monitoring</a:t>
            </a:r>
            <a:endParaRPr sz="3300"/>
          </a:p>
        </p:txBody>
      </p:sp>
      <p:sp>
        <p:nvSpPr>
          <p:cNvPr id="4" name="object 4"/>
          <p:cNvSpPr/>
          <p:nvPr/>
        </p:nvSpPr>
        <p:spPr>
          <a:xfrm>
            <a:off x="7250494" y="2064068"/>
            <a:ext cx="1379220" cy="123190"/>
          </a:xfrm>
          <a:custGeom>
            <a:avLst/>
            <a:gdLst/>
            <a:ahLst/>
            <a:cxnLst/>
            <a:rect l="l" t="t" r="r" b="b"/>
            <a:pathLst>
              <a:path w="2758440" h="246380">
                <a:moveTo>
                  <a:pt x="2758313" y="0"/>
                </a:moveTo>
                <a:lnTo>
                  <a:pt x="0" y="0"/>
                </a:lnTo>
                <a:lnTo>
                  <a:pt x="0" y="245872"/>
                </a:lnTo>
                <a:lnTo>
                  <a:pt x="2758313" y="245872"/>
                </a:lnTo>
                <a:lnTo>
                  <a:pt x="2758313" y="0"/>
                </a:lnTo>
                <a:close/>
              </a:path>
            </a:pathLst>
          </a:custGeom>
          <a:solidFill>
            <a:srgbClr val="F8B313"/>
          </a:solidFill>
        </p:spPr>
        <p:txBody>
          <a:bodyPr wrap="square" lIns="0" tIns="0" rIns="0" bIns="0" rtlCol="0"/>
          <a:lstStyle/>
          <a:p>
            <a:endParaRPr sz="700"/>
          </a:p>
        </p:txBody>
      </p:sp>
      <p:sp>
        <p:nvSpPr>
          <p:cNvPr id="5" name="object 5"/>
          <p:cNvSpPr txBox="1"/>
          <p:nvPr/>
        </p:nvSpPr>
        <p:spPr>
          <a:xfrm>
            <a:off x="7240905" y="1258001"/>
            <a:ext cx="1411288" cy="733214"/>
          </a:xfrm>
          <a:prstGeom prst="rect">
            <a:avLst/>
          </a:prstGeom>
        </p:spPr>
        <p:txBody>
          <a:bodyPr vert="horz" wrap="square" lIns="0" tIns="53023" rIns="0" bIns="0" rtlCol="0">
            <a:spAutoFit/>
          </a:bodyPr>
          <a:lstStyle/>
          <a:p>
            <a:pPr marL="8573">
              <a:spcBef>
                <a:spcPts val="418"/>
              </a:spcBef>
            </a:pPr>
            <a:r>
              <a:rPr sz="1800" b="1" spc="35" dirty="0">
                <a:solidFill>
                  <a:srgbClr val="0F0F0F"/>
                </a:solidFill>
                <a:latin typeface="Tahoma"/>
                <a:cs typeface="Tahoma"/>
              </a:rPr>
              <a:t>Team</a:t>
            </a:r>
            <a:r>
              <a:rPr sz="1800" b="1" spc="-102" dirty="0">
                <a:solidFill>
                  <a:srgbClr val="0F0F0F"/>
                </a:solidFill>
                <a:latin typeface="Tahoma"/>
                <a:cs typeface="Tahoma"/>
              </a:rPr>
              <a:t> </a:t>
            </a:r>
            <a:r>
              <a:rPr sz="1800" b="1" spc="28" dirty="0">
                <a:solidFill>
                  <a:srgbClr val="0F0F0F"/>
                </a:solidFill>
                <a:latin typeface="Tahoma"/>
                <a:cs typeface="Tahoma"/>
              </a:rPr>
              <a:t>Name</a:t>
            </a:r>
            <a:endParaRPr sz="1800" dirty="0">
              <a:latin typeface="Tahoma"/>
              <a:cs typeface="Tahoma"/>
            </a:endParaRPr>
          </a:p>
          <a:p>
            <a:pPr marL="6350">
              <a:spcBef>
                <a:spcPts val="455"/>
              </a:spcBef>
            </a:pPr>
            <a:r>
              <a:rPr sz="2200" spc="-5" dirty="0">
                <a:latin typeface="Calibri"/>
                <a:cs typeface="Calibri"/>
              </a:rPr>
              <a:t>VORTEX</a:t>
            </a:r>
            <a:endParaRPr sz="2200" dirty="0">
              <a:latin typeface="Calibri"/>
              <a:cs typeface="Calibri"/>
            </a:endParaRPr>
          </a:p>
        </p:txBody>
      </p:sp>
      <p:sp>
        <p:nvSpPr>
          <p:cNvPr id="6" name="object 6"/>
          <p:cNvSpPr txBox="1">
            <a:spLocks noGrp="1"/>
          </p:cNvSpPr>
          <p:nvPr>
            <p:ph type="body" idx="1"/>
          </p:nvPr>
        </p:nvSpPr>
        <p:spPr>
          <a:xfrm>
            <a:off x="620395" y="3733800"/>
            <a:ext cx="4880610" cy="2097369"/>
          </a:xfrm>
          <a:prstGeom prst="rect">
            <a:avLst/>
          </a:prstGeom>
        </p:spPr>
        <p:txBody>
          <a:bodyPr spcFirstLastPara="1" vert="horz" wrap="square" lIns="0" tIns="62865" rIns="0" bIns="0" rtlCol="0" anchor="t" anchorCtr="0">
            <a:spAutoFit/>
          </a:bodyPr>
          <a:lstStyle/>
          <a:p>
            <a:pPr marL="0" indent="0">
              <a:spcBef>
                <a:spcPts val="495"/>
              </a:spcBef>
              <a:buNone/>
            </a:pPr>
            <a:r>
              <a:rPr spc="-28" dirty="0"/>
              <a:t>Team</a:t>
            </a:r>
            <a:r>
              <a:rPr spc="-73" dirty="0"/>
              <a:t> </a:t>
            </a:r>
            <a:r>
              <a:rPr spc="-5" dirty="0"/>
              <a:t>Members</a:t>
            </a:r>
          </a:p>
          <a:p>
            <a:pPr marL="256857" marR="218758" indent="0">
              <a:lnSpc>
                <a:spcPct val="119900"/>
              </a:lnSpc>
              <a:spcBef>
                <a:spcPts val="18"/>
              </a:spcBef>
              <a:buNone/>
              <a:tabLst>
                <a:tab pos="1297305" algn="l"/>
              </a:tabLst>
            </a:pPr>
            <a:r>
              <a:rPr sz="2000" spc="-5" dirty="0"/>
              <a:t>Venkatesan</a:t>
            </a:r>
            <a:r>
              <a:rPr sz="2000" dirty="0"/>
              <a:t>	</a:t>
            </a:r>
            <a:r>
              <a:rPr lang="en-IN" sz="2000" dirty="0"/>
              <a:t>V</a:t>
            </a:r>
          </a:p>
          <a:p>
            <a:pPr marL="256857" marR="218758" indent="0">
              <a:lnSpc>
                <a:spcPct val="119900"/>
              </a:lnSpc>
              <a:spcBef>
                <a:spcPts val="18"/>
              </a:spcBef>
              <a:buNone/>
              <a:tabLst>
                <a:tab pos="1297305" algn="l"/>
              </a:tabLst>
            </a:pPr>
            <a:r>
              <a:rPr sz="2000" spc="-5" dirty="0"/>
              <a:t>Nakshatra</a:t>
            </a:r>
            <a:r>
              <a:rPr sz="2000" spc="-35" dirty="0"/>
              <a:t> </a:t>
            </a:r>
            <a:r>
              <a:rPr sz="2000" dirty="0"/>
              <a:t>Sree</a:t>
            </a:r>
            <a:r>
              <a:rPr sz="2000" spc="-48" dirty="0"/>
              <a:t> </a:t>
            </a:r>
            <a:r>
              <a:rPr sz="2000" dirty="0"/>
              <a:t>S</a:t>
            </a:r>
            <a:endParaRPr lang="en-IN" sz="2000" spc="-35" dirty="0"/>
          </a:p>
          <a:p>
            <a:pPr marL="256857" marR="218758" indent="0">
              <a:lnSpc>
                <a:spcPct val="119900"/>
              </a:lnSpc>
              <a:spcBef>
                <a:spcPts val="18"/>
              </a:spcBef>
              <a:buNone/>
              <a:tabLst>
                <a:tab pos="1297305" algn="l"/>
              </a:tabLst>
            </a:pPr>
            <a:r>
              <a:rPr sz="2000" dirty="0"/>
              <a:t>Dharun</a:t>
            </a:r>
            <a:r>
              <a:rPr sz="2000" spc="-25" dirty="0"/>
              <a:t> </a:t>
            </a:r>
            <a:r>
              <a:rPr sz="2000" dirty="0"/>
              <a:t>Raj</a:t>
            </a:r>
            <a:r>
              <a:rPr sz="2000" spc="-30" dirty="0"/>
              <a:t> </a:t>
            </a:r>
            <a:r>
              <a:rPr sz="2000" dirty="0"/>
              <a:t>H</a:t>
            </a:r>
            <a:endParaRPr lang="en-IN" sz="2000" dirty="0"/>
          </a:p>
          <a:p>
            <a:pPr marL="256857" marR="218758" indent="0">
              <a:lnSpc>
                <a:spcPct val="119900"/>
              </a:lnSpc>
              <a:spcBef>
                <a:spcPts val="18"/>
              </a:spcBef>
              <a:buNone/>
              <a:tabLst>
                <a:tab pos="1297305" algn="l"/>
              </a:tabLst>
            </a:pPr>
            <a:r>
              <a:rPr sz="2000" dirty="0"/>
              <a:t>J</a:t>
            </a:r>
            <a:r>
              <a:rPr sz="2000" spc="-40" dirty="0"/>
              <a:t> </a:t>
            </a:r>
            <a:r>
              <a:rPr sz="2000" spc="-15" dirty="0"/>
              <a:t>Tanushree</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a:t>AGENDA</a:t>
            </a:r>
          </a:p>
        </p:txBody>
      </p:sp>
      <p:sp>
        <p:nvSpPr>
          <p:cNvPr id="3" name="Content Placeholder 2"/>
          <p:cNvSpPr>
            <a:spLocks noGrp="1"/>
          </p:cNvSpPr>
          <p:nvPr>
            <p:ph idx="1"/>
          </p:nvPr>
        </p:nvSpPr>
        <p:spPr>
          <a:xfrm>
            <a:off x="457200" y="1234440"/>
            <a:ext cx="8229600" cy="5106670"/>
          </a:xfrm>
        </p:spPr>
        <p:txBody>
          <a:bodyPr>
            <a:normAutofit fontScale="25000" lnSpcReduction="20000"/>
          </a:bodyPr>
          <a:lstStyle/>
          <a:p>
            <a:pPr rtl="0" fontAlgn="base">
              <a:spcBef>
                <a:spcPts val="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Abstract</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Scope and Motivation</a:t>
            </a:r>
          </a:p>
          <a:p>
            <a:pPr rtl="0" fontAlgn="base">
              <a:spcBef>
                <a:spcPts val="1000"/>
              </a:spcBef>
              <a:spcAft>
                <a:spcPts val="0"/>
              </a:spcAft>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Introduction</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Literature Survey </a:t>
            </a:r>
          </a:p>
          <a:p>
            <a:pPr rtl="0" fontAlgn="base">
              <a:spcBef>
                <a:spcPts val="1000"/>
              </a:spcBef>
              <a:spcAft>
                <a:spcPts val="0"/>
              </a:spcAft>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Objective</a:t>
            </a:r>
            <a:endParaRPr lang="en-US" sz="48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1000"/>
              </a:spcBef>
              <a:spcAft>
                <a:spcPts val="0"/>
              </a:spcAft>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Problem Statement</a:t>
            </a:r>
          </a:p>
          <a:p>
            <a:pPr rtl="0" fontAlgn="base">
              <a:spcBef>
                <a:spcPts val="1000"/>
              </a:spcBef>
              <a:spcAft>
                <a:spcPts val="0"/>
              </a:spcAft>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Proposed Work</a:t>
            </a:r>
          </a:p>
          <a:p>
            <a:pPr lvl="1" fontAlgn="base">
              <a:spcBef>
                <a:spcPts val="1000"/>
              </a:spcBef>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Block Diagram</a:t>
            </a:r>
          </a:p>
          <a:p>
            <a:pPr lvl="1" fontAlgn="base">
              <a:spcBef>
                <a:spcPts val="1000"/>
              </a:spcBef>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Novel idea</a:t>
            </a:r>
          </a:p>
          <a:p>
            <a:pPr lvl="1" fontAlgn="base">
              <a:spcBef>
                <a:spcPts val="1000"/>
              </a:spcBef>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Modules</a:t>
            </a:r>
          </a:p>
          <a:p>
            <a:pPr lvl="1" fontAlgn="base">
              <a:spcBef>
                <a:spcPts val="1000"/>
              </a:spcBef>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Module Description</a:t>
            </a:r>
          </a:p>
          <a:p>
            <a:pPr lvl="1" fontAlgn="base">
              <a:spcBef>
                <a:spcPts val="1000"/>
              </a:spcBef>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Algorithm</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Software &amp; Hardware Requirements</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Implementation </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Results and Discussion-Comparison with Existing Work</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Conclusion</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Future Work</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Reference</a:t>
            </a:r>
          </a:p>
          <a:p>
            <a:pPr rtl="0" fontAlgn="base">
              <a:spcBef>
                <a:spcPts val="1000"/>
              </a:spcBef>
              <a:spcAft>
                <a:spcPts val="0"/>
              </a:spcAft>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Outcome</a:t>
            </a:r>
          </a:p>
          <a:p>
            <a:endParaRPr lang="en-US" dirty="0"/>
          </a:p>
        </p:txBody>
      </p:sp>
      <p:sp>
        <p:nvSpPr>
          <p:cNvPr id="4" name="Footer Placeholder 3"/>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extLst>
      <p:ext uri="{BB962C8B-B14F-4D97-AF65-F5344CB8AC3E}">
        <p14:creationId xmlns:p14="http://schemas.microsoft.com/office/powerpoint/2010/main" val="3912313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ABSTRACT</a:t>
            </a:r>
            <a:endParaRPr dirty="0"/>
          </a:p>
        </p:txBody>
      </p:sp>
      <p:sp>
        <p:nvSpPr>
          <p:cNvPr id="107" name="Google Shape;107;p3"/>
          <p:cNvSpPr txBox="1">
            <a:spLocks noGrp="1"/>
          </p:cNvSpPr>
          <p:nvPr>
            <p:ph type="body" idx="1"/>
          </p:nvPr>
        </p:nvSpPr>
        <p:spPr>
          <a:xfrm>
            <a:off x="457200" y="1624012"/>
            <a:ext cx="8138160" cy="4525963"/>
          </a:xfrm>
          <a:prstGeom prst="rect">
            <a:avLst/>
          </a:prstGeom>
          <a:noFill/>
          <a:ln>
            <a:noFill/>
          </a:ln>
        </p:spPr>
        <p:txBody>
          <a:bodyPr spcFirstLastPara="1" wrap="square" lIns="91425" tIns="45700" rIns="91425" bIns="45700" anchor="t" anchorCtr="0">
            <a:normAutofit/>
          </a:bodyPr>
          <a:lstStyle/>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In Tamil Nadu, traditional paddy farming depends on manual inspection and</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even irrigation, which wastes water and makes it hard to keep an eye on the</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root zone. This project introduces </a:t>
            </a:r>
            <a:r>
              <a:rPr lang="en-US" sz="1800" dirty="0" err="1">
                <a:latin typeface="Times New Roman" panose="02020603050405020304" pitchFamily="18" charset="0"/>
                <a:cs typeface="Times New Roman" panose="02020603050405020304" pitchFamily="18" charset="0"/>
              </a:rPr>
              <a:t>AgriMind</a:t>
            </a:r>
            <a:r>
              <a:rPr lang="en-US" sz="1800" dirty="0">
                <a:latin typeface="Times New Roman" panose="02020603050405020304" pitchFamily="18" charset="0"/>
                <a:cs typeface="Times New Roman" panose="02020603050405020304" pitchFamily="18" charset="0"/>
              </a:rPr>
              <a:t>, a mobile IoT-robotic system</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for monitoring paddy in real time and changing the way water is applied.</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The system uses an ESP32-based robot that is connected to IoT sensor nodes</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and a GPS module to map fields based on where they are. It checks the soil’s</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moisture, pH, temperature, and humidity. It also uses bio-impedance to</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check the health of the roots. The robot probes the depth of roots in several</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areas, and sensor fusion creates insights that are specific to each area. Data is</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sent to a cloud platform that lets you control things in a closed loop and by</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stage. Results show that you can save up to 42% of water, get 28% more</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yield, and work less. The system is cheap, can grow, and helps with</a:t>
            </a:r>
          </a:p>
          <a:p>
            <a:pPr marL="342900" lvl="0" indent="-139700" algn="just">
              <a:spcBef>
                <a:spcPts val="0"/>
              </a:spcBef>
              <a:buSzPts val="3200"/>
              <a:buNone/>
            </a:pPr>
            <a:r>
              <a:rPr lang="en-US" sz="1800" dirty="0">
                <a:latin typeface="Times New Roman" panose="02020603050405020304" pitchFamily="18" charset="0"/>
                <a:cs typeface="Times New Roman" panose="02020603050405020304" pitchFamily="18" charset="0"/>
              </a:rPr>
              <a:t>precision farming.</a:t>
            </a:r>
            <a:endParaRPr sz="1800" dirty="0">
              <a:latin typeface="Times New Roman" panose="02020603050405020304" pitchFamily="18" charset="0"/>
              <a:cs typeface="Times New Roman" panose="02020603050405020304" pitchFamily="18" charset="0"/>
            </a:endParaRPr>
          </a:p>
        </p:txBody>
      </p:sp>
      <p:sp>
        <p:nvSpPr>
          <p:cNvPr id="3" name="Footer Placeholder 3">
            <a:extLst>
              <a:ext uri="{FF2B5EF4-FFF2-40B4-BE49-F238E27FC236}">
                <a16:creationId xmlns:a16="http://schemas.microsoft.com/office/drawing/2014/main" id="{6FE38171-FEDD-A3EA-495E-FBB3C0BA96AF}"/>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Scope and Motivation</a:t>
            </a:r>
            <a:endParaRPr/>
          </a:p>
        </p:txBody>
      </p:sp>
      <p:sp>
        <p:nvSpPr>
          <p:cNvPr id="2" name="Text Placeholder 1">
            <a:extLst>
              <a:ext uri="{FF2B5EF4-FFF2-40B4-BE49-F238E27FC236}">
                <a16:creationId xmlns:a16="http://schemas.microsoft.com/office/drawing/2014/main" id="{C360F6D9-4CA5-B905-BFA6-5B57AE674230}"/>
              </a:ext>
            </a:extLst>
          </p:cNvPr>
          <p:cNvSpPr>
            <a:spLocks noGrp="1" noChangeArrowheads="1"/>
          </p:cNvSpPr>
          <p:nvPr>
            <p:ph type="body" idx="1"/>
          </p:nvPr>
        </p:nvSpPr>
        <p:spPr bwMode="auto">
          <a:xfrm>
            <a:off x="228600" y="1428300"/>
            <a:ext cx="8652510"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b="1" dirty="0">
                <a:solidFill>
                  <a:schemeClr val="tx1"/>
                </a:solidFill>
                <a:latin typeface="Times New Roman" panose="02020603050405020304" pitchFamily="18" charset="0"/>
                <a:cs typeface="Times New Roman" panose="02020603050405020304" pitchFamily="18" charset="0"/>
              </a:rPr>
              <a:t>Scope</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 GPS-enabled IoT robotic system for paddy field monitoring. </a:t>
            </a:r>
          </a:p>
          <a:p>
            <a:pPr marL="742950" lvl="1" indent="-28575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measurement of soil and environmental parameters using multiple sensors. </a:t>
            </a:r>
          </a:p>
          <a:p>
            <a:pPr marL="742950" lvl="1" indent="-28575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robot-based root-zone soil probing across different field locations. </a:t>
            </a:r>
          </a:p>
          <a:p>
            <a:pPr marL="742950" lvl="1" indent="-28575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Cloud-based data visualization and remote monitoring system. </a:t>
            </a:r>
          </a:p>
          <a:p>
            <a:pPr marL="742950" lvl="1" indent="-28575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irrigation and drainage using closed-loop control.</a:t>
            </a:r>
            <a:endParaRPr lang="en-US" altLang="en-US" sz="18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spcBef>
                <a:spcPct val="0"/>
              </a:spcBef>
              <a:spcAft>
                <a:spcPct val="0"/>
              </a:spcAft>
              <a:buClrTx/>
              <a:buSzTx/>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742950" lvl="1" indent="-285750" eaLnBrk="0" fontAlgn="base" hangingPunct="0">
              <a:spcBef>
                <a:spcPct val="0"/>
              </a:spcBef>
              <a:spcAft>
                <a:spcPct val="0"/>
              </a:spcAft>
              <a:buClrTx/>
              <a:buSzTx/>
              <a:buFont typeface="Arial" panose="020B0604020202020204" pitchFamily="34" charset="0"/>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Motivation</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Traditional farming causes high water wastage due to manual irrigation. </a:t>
            </a:r>
          </a:p>
          <a:p>
            <a:pPr marL="742950" lvl="1" indent="-285750"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Lack of real-time soil data leads to poor decision-making. </a:t>
            </a:r>
          </a:p>
          <a:p>
            <a:pPr marL="742950" lvl="1" indent="-285750"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Inefficient fertilizer usage reduces crop productivity. </a:t>
            </a:r>
          </a:p>
          <a:p>
            <a:pPr marL="742950" lvl="1" indent="-285750"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High labor dependency increases cost and effort. </a:t>
            </a:r>
          </a:p>
          <a:p>
            <a:pPr marL="742950" lvl="1" indent="-285750"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Need for smart, sustainable, and data-driven agriculture solutions. </a:t>
            </a:r>
          </a:p>
        </p:txBody>
      </p:sp>
      <p:sp>
        <p:nvSpPr>
          <p:cNvPr id="4" name="Footer Placeholder 3">
            <a:extLst>
              <a:ext uri="{FF2B5EF4-FFF2-40B4-BE49-F238E27FC236}">
                <a16:creationId xmlns:a16="http://schemas.microsoft.com/office/drawing/2014/main" id="{2A9D1524-6159-E6CF-262F-D0885D0C309B}"/>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Introduction</a:t>
            </a:r>
            <a:endParaRPr/>
          </a:p>
        </p:txBody>
      </p:sp>
      <p:sp>
        <p:nvSpPr>
          <p:cNvPr id="121" name="Google Shape;121;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25000" lnSpcReduction="20000"/>
          </a:bodyPr>
          <a:lstStyle/>
          <a:p>
            <a:pPr>
              <a:lnSpc>
                <a:spcPct val="120000"/>
              </a:lnSpc>
            </a:pPr>
            <a:r>
              <a:rPr lang="en-US" sz="6400" dirty="0">
                <a:latin typeface="Times New Roman" panose="02020603050405020304" pitchFamily="18" charset="0"/>
                <a:cs typeface="Times New Roman" panose="02020603050405020304" pitchFamily="18" charset="0"/>
              </a:rPr>
              <a:t>Farmers in Tamil Nadu require large amounts of water and nutrients to grow paddy rice. Farmers in this region use manual methods to check their fields and apply consistent methods for both irrigation and fertilization.</a:t>
            </a:r>
          </a:p>
          <a:p>
            <a:pPr marL="0" indent="0">
              <a:lnSpc>
                <a:spcPct val="120000"/>
              </a:lnSpc>
              <a:buNone/>
            </a:pPr>
            <a:endParaRPr lang="en-US" sz="6400" dirty="0">
              <a:latin typeface="Times New Roman" panose="02020603050405020304" pitchFamily="18" charset="0"/>
              <a:cs typeface="Times New Roman" panose="02020603050405020304" pitchFamily="18" charset="0"/>
            </a:endParaRPr>
          </a:p>
          <a:p>
            <a:pPr>
              <a:lnSpc>
                <a:spcPct val="120000"/>
              </a:lnSpc>
            </a:pPr>
            <a:r>
              <a:rPr lang="en-US" sz="6400" dirty="0">
                <a:latin typeface="Times New Roman" panose="02020603050405020304" pitchFamily="18" charset="0"/>
                <a:cs typeface="Times New Roman" panose="02020603050405020304" pitchFamily="18" charset="0"/>
              </a:rPr>
              <a:t>Traditional farming methods waste resources because they fail to trace underground systems which determine plant health and crop production. Research shows that improper or excessive irrigation can lead to a yield loss of about 20 to 21% compared to better water management practices.</a:t>
            </a:r>
          </a:p>
          <a:p>
            <a:pPr>
              <a:lnSpc>
                <a:spcPct val="120000"/>
              </a:lnSpc>
            </a:pPr>
            <a:endParaRPr lang="en-US" sz="6400" dirty="0">
              <a:latin typeface="Times New Roman" panose="02020603050405020304" pitchFamily="18" charset="0"/>
              <a:cs typeface="Times New Roman" panose="02020603050405020304" pitchFamily="18" charset="0"/>
            </a:endParaRPr>
          </a:p>
          <a:p>
            <a:pPr>
              <a:lnSpc>
                <a:spcPct val="120000"/>
              </a:lnSpc>
            </a:pPr>
            <a:r>
              <a:rPr lang="en-US" sz="6400" dirty="0">
                <a:latin typeface="Times New Roman" panose="02020603050405020304" pitchFamily="18" charset="0"/>
                <a:cs typeface="Times New Roman" panose="02020603050405020304" pitchFamily="18" charset="0"/>
              </a:rPr>
              <a:t>The application of excessive nitrogen fertilizer creates inefficiency because only 30 to 40% of the nitrogen applied is actually absorbed by the crop. The process results in nitrogen losses which occur through leaching and evaporation and runoff, which cause almost 50% of the nitrogen to disappear. The farming operations face economic losses because of these operational problems. The process of over-watering a hectare of land leads to losses which exceed ₹20.7 thousand while the inefficient use of fertilizer adds another ₹10.4 thousand in losses. The total financial damages to the land amount to ₹31.1 thousand for each hectare of land.</a:t>
            </a:r>
          </a:p>
          <a:p>
            <a:pPr marL="342900" lvl="0" indent="-139700" algn="l" rtl="0">
              <a:spcBef>
                <a:spcPts val="0"/>
              </a:spcBef>
              <a:spcAft>
                <a:spcPts val="0"/>
              </a:spcAft>
              <a:buClr>
                <a:schemeClr val="dk1"/>
              </a:buClr>
              <a:buSzPts val="3200"/>
              <a:buNone/>
            </a:pPr>
            <a:endParaRPr dirty="0"/>
          </a:p>
        </p:txBody>
      </p:sp>
      <p:sp>
        <p:nvSpPr>
          <p:cNvPr id="3" name="Footer Placeholder 3">
            <a:extLst>
              <a:ext uri="{FF2B5EF4-FFF2-40B4-BE49-F238E27FC236}">
                <a16:creationId xmlns:a16="http://schemas.microsoft.com/office/drawing/2014/main" id="{02B2B98F-732D-380E-724A-1175AD9008BB}"/>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2" name="object 3">
            <a:extLst>
              <a:ext uri="{FF2B5EF4-FFF2-40B4-BE49-F238E27FC236}">
                <a16:creationId xmlns:a16="http://schemas.microsoft.com/office/drawing/2014/main" id="{0A40AA96-31A5-F109-A560-331113296081}"/>
              </a:ext>
            </a:extLst>
          </p:cNvPr>
          <p:cNvGraphicFramePr>
            <a:graphicFrameLocks noGrp="1"/>
          </p:cNvGraphicFramePr>
          <p:nvPr>
            <p:extLst>
              <p:ext uri="{D42A27DB-BD31-4B8C-83A1-F6EECF244321}">
                <p14:modId xmlns:p14="http://schemas.microsoft.com/office/powerpoint/2010/main" val="1936375585"/>
              </p:ext>
            </p:extLst>
          </p:nvPr>
        </p:nvGraphicFramePr>
        <p:xfrm>
          <a:off x="114300" y="1280319"/>
          <a:ext cx="8915399" cy="4916307"/>
        </p:xfrm>
        <a:graphic>
          <a:graphicData uri="http://schemas.openxmlformats.org/drawingml/2006/table">
            <a:tbl>
              <a:tblPr firstRow="1" bandRow="1">
                <a:tableStyleId>{2D5ABB26-0587-4C30-8999-92F81FD0307C}</a:tableStyleId>
              </a:tblPr>
              <a:tblGrid>
                <a:gridCol w="722979">
                  <a:extLst>
                    <a:ext uri="{9D8B030D-6E8A-4147-A177-3AD203B41FA5}">
                      <a16:colId xmlns:a16="http://schemas.microsoft.com/office/drawing/2014/main" val="20000"/>
                    </a:ext>
                  </a:extLst>
                </a:gridCol>
                <a:gridCol w="2020324">
                  <a:extLst>
                    <a:ext uri="{9D8B030D-6E8A-4147-A177-3AD203B41FA5}">
                      <a16:colId xmlns:a16="http://schemas.microsoft.com/office/drawing/2014/main" val="20001"/>
                    </a:ext>
                  </a:extLst>
                </a:gridCol>
                <a:gridCol w="1594570">
                  <a:extLst>
                    <a:ext uri="{9D8B030D-6E8A-4147-A177-3AD203B41FA5}">
                      <a16:colId xmlns:a16="http://schemas.microsoft.com/office/drawing/2014/main" val="20002"/>
                    </a:ext>
                  </a:extLst>
                </a:gridCol>
                <a:gridCol w="1377127">
                  <a:extLst>
                    <a:ext uri="{9D8B030D-6E8A-4147-A177-3AD203B41FA5}">
                      <a16:colId xmlns:a16="http://schemas.microsoft.com/office/drawing/2014/main" val="20003"/>
                    </a:ext>
                  </a:extLst>
                </a:gridCol>
                <a:gridCol w="1743061">
                  <a:extLst>
                    <a:ext uri="{9D8B030D-6E8A-4147-A177-3AD203B41FA5}">
                      <a16:colId xmlns:a16="http://schemas.microsoft.com/office/drawing/2014/main" val="20004"/>
                    </a:ext>
                  </a:extLst>
                </a:gridCol>
                <a:gridCol w="1457338">
                  <a:extLst>
                    <a:ext uri="{9D8B030D-6E8A-4147-A177-3AD203B41FA5}">
                      <a16:colId xmlns:a16="http://schemas.microsoft.com/office/drawing/2014/main" val="20005"/>
                    </a:ext>
                  </a:extLst>
                </a:gridCol>
              </a:tblGrid>
              <a:tr h="726340">
                <a:tc>
                  <a:txBody>
                    <a:bodyPr/>
                    <a:lstStyle/>
                    <a:p>
                      <a:pPr marL="2540" algn="ctr">
                        <a:lnSpc>
                          <a:spcPct val="100000"/>
                        </a:lnSpc>
                        <a:spcBef>
                          <a:spcPts val="305"/>
                        </a:spcBef>
                      </a:pPr>
                      <a:r>
                        <a:rPr sz="1500" b="1" spc="-20">
                          <a:latin typeface="Times New Roman"/>
                          <a:cs typeface="Times New Roman"/>
                        </a:rPr>
                        <a:t>Sl.N</a:t>
                      </a:r>
                      <a:r>
                        <a:rPr sz="1500" b="1" spc="-50">
                          <a:latin typeface="Times New Roman"/>
                          <a:cs typeface="Times New Roman"/>
                        </a:rPr>
                        <a:t>o</a:t>
                      </a:r>
                      <a:endParaRPr sz="15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9079">
                        <a:lnSpc>
                          <a:spcPct val="100000"/>
                        </a:lnSpc>
                        <a:spcBef>
                          <a:spcPts val="305"/>
                        </a:spcBef>
                      </a:pPr>
                      <a:r>
                        <a:rPr sz="1500" b="1" dirty="0">
                          <a:latin typeface="Times New Roman"/>
                          <a:cs typeface="Times New Roman"/>
                        </a:rPr>
                        <a:t>Title</a:t>
                      </a:r>
                      <a:r>
                        <a:rPr sz="1500" b="1" spc="320" dirty="0">
                          <a:latin typeface="Times New Roman"/>
                          <a:cs typeface="Times New Roman"/>
                        </a:rPr>
                        <a:t> </a:t>
                      </a:r>
                      <a:r>
                        <a:rPr sz="1500" b="1" dirty="0">
                          <a:latin typeface="Times New Roman"/>
                          <a:cs typeface="Times New Roman"/>
                        </a:rPr>
                        <a:t>of</a:t>
                      </a:r>
                      <a:r>
                        <a:rPr sz="1500" b="1" spc="-20" dirty="0">
                          <a:latin typeface="Times New Roman"/>
                          <a:cs typeface="Times New Roman"/>
                        </a:rPr>
                        <a:t> </a:t>
                      </a:r>
                      <a:r>
                        <a:rPr sz="1500" b="1" dirty="0">
                          <a:latin typeface="Times New Roman"/>
                          <a:cs typeface="Times New Roman"/>
                        </a:rPr>
                        <a:t>the</a:t>
                      </a:r>
                      <a:r>
                        <a:rPr sz="1500" b="1" spc="-20" dirty="0">
                          <a:latin typeface="Times New Roman"/>
                          <a:cs typeface="Times New Roman"/>
                        </a:rPr>
                        <a:t> Paper</a:t>
                      </a:r>
                      <a:endParaRPr sz="1500" dirty="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3675" marR="187960" indent="2540" algn="ctr">
                        <a:lnSpc>
                          <a:spcPct val="100000"/>
                        </a:lnSpc>
                        <a:spcBef>
                          <a:spcPts val="305"/>
                        </a:spcBef>
                      </a:pPr>
                      <a:r>
                        <a:rPr sz="1500" b="1" spc="-10" dirty="0">
                          <a:latin typeface="Times New Roman"/>
                          <a:cs typeface="Times New Roman"/>
                        </a:rPr>
                        <a:t>Published </a:t>
                      </a:r>
                      <a:r>
                        <a:rPr sz="1500" b="1" dirty="0">
                          <a:latin typeface="Times New Roman"/>
                          <a:cs typeface="Times New Roman"/>
                        </a:rPr>
                        <a:t>Journal</a:t>
                      </a:r>
                      <a:r>
                        <a:rPr sz="1500" b="1" spc="-55" dirty="0">
                          <a:latin typeface="Times New Roman"/>
                          <a:cs typeface="Times New Roman"/>
                        </a:rPr>
                        <a:t> </a:t>
                      </a:r>
                      <a:r>
                        <a:rPr sz="1500" b="1" spc="-25" dirty="0">
                          <a:latin typeface="Times New Roman"/>
                          <a:cs typeface="Times New Roman"/>
                        </a:rPr>
                        <a:t>and </a:t>
                      </a:r>
                      <a:r>
                        <a:rPr sz="1500" b="1" spc="-20" dirty="0">
                          <a:latin typeface="Times New Roman"/>
                          <a:cs typeface="Times New Roman"/>
                        </a:rPr>
                        <a:t>Year</a:t>
                      </a:r>
                      <a:endParaRPr sz="15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5595">
                        <a:lnSpc>
                          <a:spcPct val="100000"/>
                        </a:lnSpc>
                        <a:spcBef>
                          <a:spcPts val="305"/>
                        </a:spcBef>
                      </a:pPr>
                      <a:r>
                        <a:rPr sz="1500" b="1" spc="-10" dirty="0">
                          <a:latin typeface="Times New Roman"/>
                          <a:cs typeface="Times New Roman"/>
                        </a:rPr>
                        <a:t>Author</a:t>
                      </a:r>
                      <a:endParaRPr sz="15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3725">
                        <a:lnSpc>
                          <a:spcPct val="100000"/>
                        </a:lnSpc>
                        <a:spcBef>
                          <a:spcPts val="305"/>
                        </a:spcBef>
                      </a:pPr>
                      <a:r>
                        <a:rPr sz="1500" b="1" spc="-10" dirty="0">
                          <a:latin typeface="Times New Roman"/>
                          <a:cs typeface="Times New Roman"/>
                        </a:rPr>
                        <a:t>Concept</a:t>
                      </a:r>
                      <a:endParaRPr sz="1500" dirty="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22250" algn="r">
                        <a:lnSpc>
                          <a:spcPct val="100000"/>
                        </a:lnSpc>
                        <a:spcBef>
                          <a:spcPts val="305"/>
                        </a:spcBef>
                      </a:pPr>
                      <a:r>
                        <a:rPr sz="1500" b="1" spc="-10" dirty="0">
                          <a:latin typeface="Times New Roman"/>
                          <a:cs typeface="Times New Roman"/>
                        </a:rPr>
                        <a:t>Inference</a:t>
                      </a:r>
                      <a:endParaRPr sz="1500">
                        <a:latin typeface="Times New Roman"/>
                        <a:cs typeface="Times New Roman"/>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189967">
                <a:tc>
                  <a:txBody>
                    <a:bodyPr/>
                    <a:lstStyle/>
                    <a:p>
                      <a:pPr marL="91440">
                        <a:lnSpc>
                          <a:spcPct val="100000"/>
                        </a:lnSpc>
                        <a:spcBef>
                          <a:spcPts val="315"/>
                        </a:spcBef>
                      </a:pPr>
                      <a:r>
                        <a:rPr sz="1200" spc="-50" dirty="0">
                          <a:latin typeface="Times New Roman" panose="02020603050405020304" pitchFamily="18" charset="0"/>
                          <a:cs typeface="Times New Roman" panose="02020603050405020304" pitchFamily="18" charset="0"/>
                        </a:rPr>
                        <a:t>1</a:t>
                      </a:r>
                      <a:endParaRPr sz="1200" dirty="0">
                        <a:latin typeface="Times New Roman" panose="02020603050405020304" pitchFamily="18" charset="0"/>
                        <a:cs typeface="Times New Roman" panose="02020603050405020304" pitchFamily="18" charset="0"/>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89535">
                        <a:lnSpc>
                          <a:spcPct val="100000"/>
                        </a:lnSpc>
                        <a:spcBef>
                          <a:spcPts val="245"/>
                        </a:spcBef>
                      </a:pPr>
                      <a:r>
                        <a:rPr lang="en-IN" sz="1400" dirty="0">
                          <a:latin typeface="Times New Roman" panose="02020603050405020304" pitchFamily="18" charset="0"/>
                          <a:cs typeface="Times New Roman" panose="02020603050405020304" pitchFamily="18" charset="0"/>
                        </a:rPr>
                        <a:t>Smart Saffron Cultivation: An IoT-Based Environmental Monitoring and Control System with GSM Alert Integration</a:t>
                      </a:r>
                      <a:endParaRPr sz="1400" dirty="0">
                        <a:latin typeface="Times New Roman" panose="02020603050405020304" pitchFamily="18" charset="0"/>
                        <a:cs typeface="Times New Roman" panose="02020603050405020304" pitchFamily="18" charset="0"/>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253365">
                        <a:lnSpc>
                          <a:spcPct val="100000"/>
                        </a:lnSpc>
                        <a:spcBef>
                          <a:spcPts val="295"/>
                        </a:spcBef>
                      </a:pPr>
                      <a:r>
                        <a:rPr lang="en-IN" sz="1400" dirty="0">
                          <a:latin typeface="Times New Roman" panose="02020603050405020304" pitchFamily="18" charset="0"/>
                          <a:cs typeface="Times New Roman" panose="02020603050405020304" pitchFamily="18" charset="0"/>
                        </a:rPr>
                        <a:t>10th International Conference on Communication and Electronics Systems (ICCES), Coimbatore, India, 2025</a:t>
                      </a:r>
                      <a:endParaRPr sz="1400" dirty="0">
                        <a:latin typeface="Times New Roman" panose="02020603050405020304" pitchFamily="18" charset="0"/>
                        <a:cs typeface="Times New Roman" panose="02020603050405020304" pitchFamily="18" charset="0"/>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228600">
                        <a:lnSpc>
                          <a:spcPct val="100000"/>
                        </a:lnSpc>
                        <a:spcBef>
                          <a:spcPts val="295"/>
                        </a:spcBef>
                      </a:pPr>
                      <a:r>
                        <a:rPr lang="en-IN" sz="1400" dirty="0">
                          <a:latin typeface="Times New Roman" panose="02020603050405020304" pitchFamily="18" charset="0"/>
                          <a:cs typeface="Times New Roman" panose="02020603050405020304" pitchFamily="18" charset="0"/>
                        </a:rPr>
                        <a:t>V. Chittem, S. K. Mukunda, E. S. R. </a:t>
                      </a:r>
                      <a:r>
                        <a:rPr lang="en-IN" sz="1400" dirty="0" err="1">
                          <a:latin typeface="Times New Roman" panose="02020603050405020304" pitchFamily="18" charset="0"/>
                          <a:cs typeface="Times New Roman" panose="02020603050405020304" pitchFamily="18" charset="0"/>
                        </a:rPr>
                        <a:t>Mudumala</a:t>
                      </a:r>
                      <a:r>
                        <a:rPr lang="en-IN" sz="1400" dirty="0">
                          <a:latin typeface="Times New Roman" panose="02020603050405020304" pitchFamily="18" charset="0"/>
                          <a:cs typeface="Times New Roman" panose="02020603050405020304" pitchFamily="18" charset="0"/>
                        </a:rPr>
                        <a:t> and G. C. V</a:t>
                      </a:r>
                      <a:endParaRPr sz="1400" dirty="0">
                        <a:latin typeface="Times New Roman" panose="02020603050405020304" pitchFamily="18" charset="0"/>
                        <a:cs typeface="Times New Roman" panose="02020603050405020304" pitchFamily="18" charset="0"/>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marR="490855">
                        <a:lnSpc>
                          <a:spcPct val="100000"/>
                        </a:lnSpc>
                        <a:spcBef>
                          <a:spcPts val="245"/>
                        </a:spcBef>
                      </a:pPr>
                      <a:r>
                        <a:rPr lang="en-US" sz="1400" b="0" dirty="0">
                          <a:latin typeface="Times New Roman" panose="02020603050405020304" pitchFamily="18" charset="0"/>
                          <a:cs typeface="Times New Roman" panose="02020603050405020304" pitchFamily="18" charset="0"/>
                        </a:rPr>
                        <a:t>This paper shows that integrating IoT + automation + GSM communication can transform traditional saffron farming into a smart, efficient, and high-yield system, reducing risks and improving productivity</a:t>
                      </a:r>
                      <a:endParaRPr sz="1400" b="0" dirty="0">
                        <a:latin typeface="Times New Roman" panose="02020603050405020304" pitchFamily="18" charset="0"/>
                        <a:cs typeface="Times New Roman" panose="02020603050405020304" pitchFamily="18"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245"/>
                        </a:spcBef>
                      </a:pPr>
                      <a:r>
                        <a:rPr lang="en-US" sz="1400" dirty="0">
                          <a:latin typeface="Times New Roman" panose="02020603050405020304" pitchFamily="18" charset="0"/>
                          <a:cs typeface="Times New Roman" panose="02020603050405020304" pitchFamily="18" charset="0"/>
                        </a:rPr>
                        <a:t>The system shows that IoT-based monitoring and automation with GSM alerts can significantly improve saffron yield, quality, and reduce manual effort. It provides a scalable precision farming solution, though it depends on reliable connectivity and involves higher initial setup cost.</a:t>
                      </a:r>
                      <a:endParaRPr sz="1800" dirty="0">
                        <a:latin typeface="Times New Roman" panose="02020603050405020304" pitchFamily="18" charset="0"/>
                        <a:cs typeface="Times New Roman" panose="02020603050405020304" pitchFamily="18" charset="0"/>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4" name="Footer Placeholder 3">
            <a:extLst>
              <a:ext uri="{FF2B5EF4-FFF2-40B4-BE49-F238E27FC236}">
                <a16:creationId xmlns:a16="http://schemas.microsoft.com/office/drawing/2014/main" id="{C1A84A9A-B77C-4C12-E796-BCD0C7C516B2}"/>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OBJECTIVES</a:t>
            </a:r>
          </a:p>
        </p:txBody>
      </p:sp>
      <p:sp>
        <p:nvSpPr>
          <p:cNvPr id="135" name="Google Shape;135;p7"/>
          <p:cNvSpPr txBox="1">
            <a:spLocks noGrp="1"/>
          </p:cNvSpPr>
          <p:nvPr>
            <p:ph type="body" idx="1"/>
          </p:nvPr>
        </p:nvSpPr>
        <p:spPr>
          <a:xfrm>
            <a:off x="598170" y="1327150"/>
            <a:ext cx="8229600" cy="5029200"/>
          </a:xfrm>
          <a:prstGeom prst="rect">
            <a:avLst/>
          </a:prstGeom>
          <a:noFill/>
          <a:ln>
            <a:noFill/>
          </a:ln>
        </p:spPr>
        <p:txBody>
          <a:bodyPr spcFirstLastPara="1" wrap="square" lIns="91425" tIns="45700" rIns="91425" bIns="45700" anchor="t" anchorCtr="0">
            <a:noAutofit/>
          </a:bodyPr>
          <a:lstStyle/>
          <a:p>
            <a:r>
              <a:rPr lang="en-US" sz="1800" dirty="0">
                <a:latin typeface="Times New Roman" panose="02020603050405020304" pitchFamily="18" charset="0"/>
                <a:cs typeface="Times New Roman" panose="02020603050405020304" pitchFamily="18" charset="0"/>
              </a:rPr>
              <a:t>Conventional paddy farming relies on manual observation and set procedures, which offer little real-time insight into field and root-zone conditions.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Continuous monitoring of soil and environmental parameters during various stages of crop growth is necessary for effective paddy management.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Localized soil sensing and necessary field monitoring like irrigation and drainage are carried out by an autonomous ESP32-based robot.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Real-time monitoring of soil moisture, pH, temperature, humidity, and light intensity is provided by multi-sensor IoT nodes.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 closed-loop paddy management system is created when a single cloud platform combines field data and provides the robot with stage-based control decision</a:t>
            </a:r>
            <a:endParaRPr lang="en-IN" sz="1800" dirty="0">
              <a:latin typeface="Times New Roman" panose="02020603050405020304" pitchFamily="18" charset="0"/>
              <a:cs typeface="Times New Roman" panose="02020603050405020304" pitchFamily="18" charset="0"/>
            </a:endParaRPr>
          </a:p>
          <a:p>
            <a:pPr marL="342900" lvl="0" indent="-215900" algn="just" rtl="0">
              <a:spcBef>
                <a:spcPts val="0"/>
              </a:spcBef>
              <a:spcAft>
                <a:spcPts val="0"/>
              </a:spcAft>
              <a:buClr>
                <a:schemeClr val="dk1"/>
              </a:buClr>
              <a:buSzPts val="2000"/>
              <a:buNone/>
            </a:pPr>
            <a:endParaRPr sz="2000"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8"/>
          <p:cNvSpPr txBox="1">
            <a:spLocks noGrp="1"/>
          </p:cNvSpPr>
          <p:nvPr>
            <p:ph type="title"/>
          </p:nvPr>
        </p:nvSpPr>
        <p:spPr>
          <a:xfrm>
            <a:off x="457200" y="227013"/>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PROBLEM STATEMENT</a:t>
            </a:r>
          </a:p>
        </p:txBody>
      </p:sp>
      <p:sp>
        <p:nvSpPr>
          <p:cNvPr id="142" name="Google Shape;142;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r>
              <a:rPr lang="en-US" sz="1800" dirty="0">
                <a:latin typeface="Times New Roman" panose="02020603050405020304" pitchFamily="18" charset="0"/>
                <a:cs typeface="Times New Roman" panose="02020603050405020304" pitchFamily="18" charset="0"/>
              </a:rPr>
              <a:t>Research from Tamil Nadu Agricultural University and field-level surveys in Tamil Nadu's main paddy-growing regions show that manual field monitoring and uniform irrigation scheduling cause major inefficiencies in traditional paddy cultivation methods. </a:t>
            </a:r>
          </a:p>
          <a:p>
            <a:pPr marL="11430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According to these studies, uneven distribution, seepage losses, and a lack of real-time root-zone condition awareness cause a significant amount of irrigation water applied to paddy fields to be inefficiently used by the crop. Improved monitoring and management techniques can increase water productivity by almost 50–60% in some areas, according to TNAU field evaluations; under better-managed irrigated conditions, yield improvements of about 25–30% have been noted. </a:t>
            </a:r>
          </a:p>
          <a:p>
            <a:pPr marL="11430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This emphasizes the need for an affordable, automated, and useful smart paddy management system that facilitates data-driven and enhances overall field performance embedded acoustic signal processing and multi-sensor sound detection.</a:t>
            </a:r>
          </a:p>
          <a:p>
            <a:pPr marL="342900" lvl="0" indent="-139700" algn="l" rtl="0">
              <a:spcBef>
                <a:spcPts val="0"/>
              </a:spcBef>
              <a:spcAft>
                <a:spcPts val="0"/>
              </a:spcAft>
              <a:buClr>
                <a:schemeClr val="dk1"/>
              </a:buClr>
              <a:buSzPts val="3200"/>
              <a:buNone/>
            </a:pPr>
            <a:endParaRPr dirty="0"/>
          </a:p>
        </p:txBody>
      </p:sp>
      <p:sp>
        <p:nvSpPr>
          <p:cNvPr id="3" name="Footer Placeholder 3">
            <a:extLst>
              <a:ext uri="{FF2B5EF4-FFF2-40B4-BE49-F238E27FC236}">
                <a16:creationId xmlns:a16="http://schemas.microsoft.com/office/drawing/2014/main" id="{3BCA4E78-A5B4-1466-A913-5096E5077153}"/>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4" name="Picture 3">
            <a:extLst>
              <a:ext uri="{FF2B5EF4-FFF2-40B4-BE49-F238E27FC236}">
                <a16:creationId xmlns:a16="http://schemas.microsoft.com/office/drawing/2014/main" id="{E1B88A15-2B10-1C56-1B31-9EDB9359BE0B}"/>
              </a:ext>
            </a:extLst>
          </p:cNvPr>
          <p:cNvPicPr>
            <a:picLocks noChangeAspect="1"/>
          </p:cNvPicPr>
          <p:nvPr/>
        </p:nvPicPr>
        <p:blipFill>
          <a:blip r:embed="rId3"/>
          <a:stretch>
            <a:fillRect/>
          </a:stretch>
        </p:blipFill>
        <p:spPr>
          <a:xfrm>
            <a:off x="1291590" y="914401"/>
            <a:ext cx="6629400" cy="5867400"/>
          </a:xfrm>
          <a:prstGeom prst="rect">
            <a:avLst/>
          </a:prstGeom>
        </p:spPr>
      </p:pic>
      <p:sp>
        <p:nvSpPr>
          <p:cNvPr id="148" name="Google Shape;148;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BLOCK DIAGRAM</a:t>
            </a:r>
          </a:p>
        </p:txBody>
      </p:sp>
      <p:sp>
        <p:nvSpPr>
          <p:cNvPr id="3" name="Footer Placeholder 3">
            <a:extLst>
              <a:ext uri="{FF2B5EF4-FFF2-40B4-BE49-F238E27FC236}">
                <a16:creationId xmlns:a16="http://schemas.microsoft.com/office/drawing/2014/main" id="{C9C69301-F40A-76AA-BA30-E08469F16FB5}"/>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NOVEL PROPOSED</a:t>
            </a:r>
          </a:p>
        </p:txBody>
      </p:sp>
      <p:sp>
        <p:nvSpPr>
          <p:cNvPr id="2" name="Text Placeholder 1">
            <a:extLst>
              <a:ext uri="{FF2B5EF4-FFF2-40B4-BE49-F238E27FC236}">
                <a16:creationId xmlns:a16="http://schemas.microsoft.com/office/drawing/2014/main" id="{5F4B5BF0-9506-4239-1F71-E5081FF70D26}"/>
              </a:ext>
            </a:extLst>
          </p:cNvPr>
          <p:cNvSpPr>
            <a:spLocks noGrp="1" noChangeArrowheads="1"/>
          </p:cNvSpPr>
          <p:nvPr>
            <p:ph type="body" idx="1"/>
          </p:nvPr>
        </p:nvSpPr>
        <p:spPr bwMode="auto">
          <a:xfrm>
            <a:off x="457200" y="2205588"/>
            <a:ext cx="8549640"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ClrTx/>
              <a:buSzTx/>
            </a:pPr>
            <a:r>
              <a:rPr lang="en-US" altLang="en-US" sz="1800" dirty="0">
                <a:solidFill>
                  <a:schemeClr val="tx1"/>
                </a:solidFill>
                <a:latin typeface="Times New Roman" panose="02020603050405020304" pitchFamily="18" charset="0"/>
                <a:cs typeface="Times New Roman" panose="02020603050405020304" pitchFamily="18" charset="0"/>
              </a:rPr>
              <a:t>GPS-based location-aware monitoring for precise field mapping. </a:t>
            </a:r>
          </a:p>
          <a:p>
            <a:pPr marL="285750" indent="-285750" eaLnBrk="0" fontAlgn="base" hangingPunct="0">
              <a:lnSpc>
                <a:spcPct val="150000"/>
              </a:lnSpc>
              <a:spcBef>
                <a:spcPct val="0"/>
              </a:spcBef>
              <a:spcAft>
                <a:spcPct val="0"/>
              </a:spcAft>
              <a:buClrTx/>
              <a:buSzTx/>
            </a:pPr>
            <a:r>
              <a:rPr lang="en-US" altLang="en-US" sz="1800" dirty="0">
                <a:solidFill>
                  <a:schemeClr val="tx1"/>
                </a:solidFill>
                <a:latin typeface="Times New Roman" panose="02020603050405020304" pitchFamily="18" charset="0"/>
                <a:cs typeface="Times New Roman" panose="02020603050405020304" pitchFamily="18" charset="0"/>
              </a:rPr>
              <a:t>Mobile robot designed to operate in paddy slurry conditions. </a:t>
            </a:r>
          </a:p>
          <a:p>
            <a:pPr marL="285750" indent="-285750" eaLnBrk="0" fontAlgn="base" hangingPunct="0">
              <a:lnSpc>
                <a:spcPct val="150000"/>
              </a:lnSpc>
              <a:spcBef>
                <a:spcPct val="0"/>
              </a:spcBef>
              <a:spcAft>
                <a:spcPct val="0"/>
              </a:spcAft>
              <a:buClrTx/>
              <a:buSzTx/>
            </a:pPr>
            <a:r>
              <a:rPr lang="en-US" altLang="en-US" sz="1800" dirty="0">
                <a:solidFill>
                  <a:schemeClr val="tx1"/>
                </a:solidFill>
                <a:latin typeface="Times New Roman" panose="02020603050405020304" pitchFamily="18" charset="0"/>
                <a:cs typeface="Times New Roman" panose="02020603050405020304" pitchFamily="18" charset="0"/>
              </a:rPr>
              <a:t>Root-zone soil probing for accurate underground data collection. </a:t>
            </a:r>
          </a:p>
          <a:p>
            <a:pPr marL="285750" indent="-285750" eaLnBrk="0" fontAlgn="base" hangingPunct="0">
              <a:lnSpc>
                <a:spcPct val="150000"/>
              </a:lnSpc>
              <a:spcBef>
                <a:spcPct val="0"/>
              </a:spcBef>
              <a:spcAft>
                <a:spcPct val="0"/>
              </a:spcAft>
              <a:buClrTx/>
              <a:buSzTx/>
            </a:pPr>
            <a:r>
              <a:rPr lang="en-US" altLang="en-US" sz="1800" dirty="0">
                <a:solidFill>
                  <a:schemeClr val="tx1"/>
                </a:solidFill>
                <a:latin typeface="Times New Roman" panose="02020603050405020304" pitchFamily="18" charset="0"/>
                <a:cs typeface="Times New Roman" panose="02020603050405020304" pitchFamily="18" charset="0"/>
              </a:rPr>
              <a:t>Multi-point sensing with sensor fusion for higher accuracy. </a:t>
            </a:r>
          </a:p>
          <a:p>
            <a:pPr marL="285750" indent="-285750" eaLnBrk="0" fontAlgn="base" hangingPunct="0">
              <a:lnSpc>
                <a:spcPct val="150000"/>
              </a:lnSpc>
              <a:spcBef>
                <a:spcPct val="0"/>
              </a:spcBef>
              <a:spcAft>
                <a:spcPct val="0"/>
              </a:spcAft>
              <a:buClrTx/>
              <a:buSzTx/>
            </a:pPr>
            <a:r>
              <a:rPr lang="en-US" altLang="en-US" sz="1800" dirty="0">
                <a:solidFill>
                  <a:schemeClr val="tx1"/>
                </a:solidFill>
                <a:latin typeface="Times New Roman" panose="02020603050405020304" pitchFamily="18" charset="0"/>
                <a:cs typeface="Times New Roman" panose="02020603050405020304" pitchFamily="18" charset="0"/>
              </a:rPr>
              <a:t>Integration of IoT, robotics for smart farming. </a:t>
            </a:r>
          </a:p>
          <a:p>
            <a:pPr marL="0" lvl="0" indent="0" eaLnBrk="0" fontAlgn="base" hangingPunct="0">
              <a:spcBef>
                <a:spcPct val="0"/>
              </a:spcBef>
              <a:spcAft>
                <a:spcPct val="0"/>
              </a:spcAft>
              <a:buClrTx/>
              <a:buSzTx/>
              <a:buNone/>
            </a:pPr>
            <a:endParaRPr lang="en-US" altLang="en-US" sz="1800" dirty="0">
              <a:solidFill>
                <a:schemeClr val="tx1"/>
              </a:solidFill>
              <a:latin typeface="Arial" panose="020B0604020202020204" pitchFamily="34" charset="0"/>
            </a:endParaRPr>
          </a:p>
        </p:txBody>
      </p:sp>
      <p:sp>
        <p:nvSpPr>
          <p:cNvPr id="4" name="Footer Placeholder 3">
            <a:extLst>
              <a:ext uri="{FF2B5EF4-FFF2-40B4-BE49-F238E27FC236}">
                <a16:creationId xmlns:a16="http://schemas.microsoft.com/office/drawing/2014/main" id="{51D3CCC1-C7E9-3D25-1953-620790770E9B}"/>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PROPOSED-MODULES</a:t>
            </a:r>
          </a:p>
        </p:txBody>
      </p:sp>
      <p:sp>
        <p:nvSpPr>
          <p:cNvPr id="163" name="Google Shape;163;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114300" indent="0">
              <a:buNone/>
            </a:pPr>
            <a:r>
              <a:rPr lang="en-IN" sz="1800" b="1" dirty="0">
                <a:latin typeface="Times New Roman" panose="02020603050405020304" pitchFamily="18" charset="0"/>
                <a:cs typeface="Times New Roman" panose="02020603050405020304" pitchFamily="18" charset="0"/>
              </a:rPr>
              <a:t>Sensor Module </a:t>
            </a:r>
          </a:p>
          <a:p>
            <a:pPr lvl="1">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Sensors collect soil and environmental data.</a:t>
            </a:r>
          </a:p>
          <a:p>
            <a:pPr marL="114300" indent="0">
              <a:buNone/>
            </a:pPr>
            <a:r>
              <a:rPr lang="en-IN" sz="1800" b="1" dirty="0">
                <a:latin typeface="Times New Roman" panose="02020603050405020304" pitchFamily="18" charset="0"/>
                <a:cs typeface="Times New Roman" panose="02020603050405020304" pitchFamily="18" charset="0"/>
              </a:rPr>
              <a:t>Robot Navigation Module </a:t>
            </a:r>
          </a:p>
          <a:p>
            <a:pPr lvl="1">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Robot navigates and probes field locations. </a:t>
            </a:r>
          </a:p>
          <a:p>
            <a:pPr marL="114300" indent="0">
              <a:buNone/>
            </a:pPr>
            <a:r>
              <a:rPr lang="en-IN" sz="1800" b="1" dirty="0">
                <a:latin typeface="Times New Roman" panose="02020603050405020304" pitchFamily="18" charset="0"/>
                <a:cs typeface="Times New Roman" panose="02020603050405020304" pitchFamily="18" charset="0"/>
              </a:rPr>
              <a:t>Data Processing Module </a:t>
            </a:r>
          </a:p>
          <a:p>
            <a:pPr lvl="1">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Processing unit performs data fusion and analysis</a:t>
            </a:r>
          </a:p>
          <a:p>
            <a:pPr marL="114300" indent="0">
              <a:buNone/>
            </a:pPr>
            <a:r>
              <a:rPr lang="en-IN" sz="1800" b="1" dirty="0">
                <a:latin typeface="Times New Roman" panose="02020603050405020304" pitchFamily="18" charset="0"/>
                <a:cs typeface="Times New Roman" panose="02020603050405020304" pitchFamily="18" charset="0"/>
              </a:rPr>
              <a:t>Communication Module </a:t>
            </a:r>
          </a:p>
          <a:p>
            <a:pPr lvl="1">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Communication module sends data via </a:t>
            </a:r>
            <a:r>
              <a:rPr lang="en-IN" sz="1800" dirty="0" err="1">
                <a:latin typeface="Times New Roman" panose="02020603050405020304" pitchFamily="18" charset="0"/>
                <a:cs typeface="Times New Roman" panose="02020603050405020304" pitchFamily="18" charset="0"/>
              </a:rPr>
              <a:t>WiFi</a:t>
            </a:r>
            <a:r>
              <a:rPr lang="en-IN" sz="1800" dirty="0">
                <a:latin typeface="Times New Roman" panose="02020603050405020304" pitchFamily="18" charset="0"/>
                <a:cs typeface="Times New Roman" panose="02020603050405020304" pitchFamily="18" charset="0"/>
              </a:rPr>
              <a:t>.</a:t>
            </a:r>
          </a:p>
          <a:p>
            <a:pPr marL="114300" indent="0">
              <a:buNone/>
            </a:pPr>
            <a:r>
              <a:rPr lang="en-IN" sz="1800" b="1" dirty="0">
                <a:latin typeface="Times New Roman" panose="02020603050405020304" pitchFamily="18" charset="0"/>
                <a:cs typeface="Times New Roman" panose="02020603050405020304" pitchFamily="18" charset="0"/>
              </a:rPr>
              <a:t>Geo Fencing Module</a:t>
            </a:r>
          </a:p>
          <a:p>
            <a:pPr lvl="1">
              <a:buFont typeface="Arial" panose="020B0604020202020204" pitchFamily="34" charset="0"/>
              <a:buChar char="•"/>
            </a:pPr>
            <a:r>
              <a:rPr lang="en-IN" sz="1800" dirty="0" err="1">
                <a:latin typeface="Times New Roman" panose="02020603050405020304" pitchFamily="18" charset="0"/>
                <a:cs typeface="Times New Roman" panose="02020603050405020304" pitchFamily="18" charset="0"/>
              </a:rPr>
              <a:t>Gps</a:t>
            </a:r>
            <a:r>
              <a:rPr lang="en-IN" sz="1800" dirty="0">
                <a:latin typeface="Times New Roman" panose="02020603050405020304" pitchFamily="18" charset="0"/>
                <a:cs typeface="Times New Roman" panose="02020603050405020304" pitchFamily="18" charset="0"/>
              </a:rPr>
              <a:t> module updates the location 0f the robot.</a:t>
            </a:r>
          </a:p>
          <a:p>
            <a:pPr marL="114300" indent="0">
              <a:buNone/>
            </a:pPr>
            <a:endParaRPr lang="en-IN" dirty="0"/>
          </a:p>
          <a:p>
            <a:pPr marL="114300" indent="0">
              <a:buNone/>
            </a:pPr>
            <a:br>
              <a:rPr lang="en-IN" dirty="0"/>
            </a:br>
            <a:endParaRPr lang="en-IN" dirty="0"/>
          </a:p>
          <a:p>
            <a:pPr marL="203200" indent="0">
              <a:spcBef>
                <a:spcPts val="0"/>
              </a:spcBef>
              <a:buSzPts val="3200"/>
              <a:buNone/>
            </a:pPr>
            <a:endParaRPr dirty="0"/>
          </a:p>
        </p:txBody>
      </p:sp>
      <p:sp>
        <p:nvSpPr>
          <p:cNvPr id="3" name="Footer Placeholder 3">
            <a:extLst>
              <a:ext uri="{FF2B5EF4-FFF2-40B4-BE49-F238E27FC236}">
                <a16:creationId xmlns:a16="http://schemas.microsoft.com/office/drawing/2014/main" id="{4D4CEE47-D83E-8AC2-FF95-3C549F31F8EB}"/>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2"/>
          <p:cNvSpPr txBox="1">
            <a:spLocks noGrp="1"/>
          </p:cNvSpPr>
          <p:nvPr>
            <p:ph type="title"/>
          </p:nvPr>
        </p:nvSpPr>
        <p:spPr>
          <a:xfrm>
            <a:off x="1000125" y="227013"/>
            <a:ext cx="714375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3600" dirty="0"/>
              <a:t>SOFTWARE &amp; HARDWARE REQUIREMENTS</a:t>
            </a:r>
          </a:p>
        </p:txBody>
      </p:sp>
      <p:sp>
        <p:nvSpPr>
          <p:cNvPr id="170" name="Google Shape;170;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14300" indent="0">
              <a:buNone/>
            </a:pPr>
            <a:r>
              <a:rPr lang="en-IN" sz="1800" b="1" dirty="0">
                <a:latin typeface="Times New Roman" panose="02020603050405020304" pitchFamily="18" charset="0"/>
                <a:cs typeface="Times New Roman" panose="02020603050405020304" pitchFamily="18" charset="0"/>
              </a:rPr>
              <a:t>HARDWARE REQUIREMENTS</a:t>
            </a:r>
          </a:p>
          <a:p>
            <a:pPr lvl="1">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ESP32 Microcontroller</a:t>
            </a:r>
            <a:r>
              <a:rPr lang="en-IN" sz="1800" dirty="0">
                <a:latin typeface="Times New Roman" panose="02020603050405020304" pitchFamily="18" charset="0"/>
                <a:cs typeface="Times New Roman" panose="02020603050405020304" pitchFamily="18" charset="0"/>
              </a:rPr>
              <a:t> – Controller for processing and communication </a:t>
            </a:r>
          </a:p>
          <a:p>
            <a:pPr lvl="1">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Soil Moisture Sensor</a:t>
            </a:r>
            <a:r>
              <a:rPr lang="en-IN" sz="1800" dirty="0">
                <a:latin typeface="Times New Roman" panose="02020603050405020304" pitchFamily="18" charset="0"/>
                <a:cs typeface="Times New Roman" panose="02020603050405020304" pitchFamily="18" charset="0"/>
              </a:rPr>
              <a:t> – Measures water content in soil </a:t>
            </a:r>
          </a:p>
          <a:p>
            <a:pPr lvl="1">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pH Sensor</a:t>
            </a:r>
            <a:r>
              <a:rPr lang="en-IN" sz="1800" dirty="0">
                <a:latin typeface="Times New Roman" panose="02020603050405020304" pitchFamily="18" charset="0"/>
                <a:cs typeface="Times New Roman" panose="02020603050405020304" pitchFamily="18" charset="0"/>
              </a:rPr>
              <a:t> – Detects soil acidity/alkalinity </a:t>
            </a:r>
          </a:p>
          <a:p>
            <a:pPr lvl="1">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Temperature &amp; Humidity Sensor(BMP280)</a:t>
            </a:r>
            <a:r>
              <a:rPr lang="en-IN" sz="1800" dirty="0">
                <a:latin typeface="Times New Roman" panose="02020603050405020304" pitchFamily="18" charset="0"/>
                <a:cs typeface="Times New Roman" panose="02020603050405020304" pitchFamily="18" charset="0"/>
              </a:rPr>
              <a:t> – Monitors environmental conditions </a:t>
            </a:r>
          </a:p>
          <a:p>
            <a:pPr lvl="1">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GPS Module (NEO-6M)</a:t>
            </a:r>
            <a:r>
              <a:rPr lang="en-IN" sz="1800" dirty="0">
                <a:latin typeface="Times New Roman" panose="02020603050405020304" pitchFamily="18" charset="0"/>
                <a:cs typeface="Times New Roman" panose="02020603050405020304" pitchFamily="18" charset="0"/>
              </a:rPr>
              <a:t> – Provides location tracking for field mapping </a:t>
            </a:r>
          </a:p>
          <a:p>
            <a:pPr lvl="1">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DC Motors + Motor Driver (L298N)</a:t>
            </a:r>
            <a:r>
              <a:rPr lang="en-IN" sz="1800" dirty="0">
                <a:latin typeface="Times New Roman" panose="02020603050405020304" pitchFamily="18" charset="0"/>
                <a:cs typeface="Times New Roman" panose="02020603050405020304" pitchFamily="18" charset="0"/>
              </a:rPr>
              <a:t> – Robot movement control </a:t>
            </a:r>
          </a:p>
          <a:p>
            <a:pPr marL="571500" lvl="1" indent="0">
              <a:buNone/>
            </a:pP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t>SOFTWARE REQUIREMENTS</a:t>
            </a:r>
          </a:p>
          <a:p>
            <a:pPr lvl="1">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Arduino IDE</a:t>
            </a:r>
            <a:r>
              <a:rPr lang="en-IN" sz="1800" dirty="0">
                <a:latin typeface="Times New Roman" panose="02020603050405020304" pitchFamily="18" charset="0"/>
                <a:cs typeface="Times New Roman" panose="02020603050405020304" pitchFamily="18" charset="0"/>
              </a:rPr>
              <a:t> – Programming ESP32 </a:t>
            </a:r>
          </a:p>
          <a:p>
            <a:pPr lvl="1">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Embedded C / C++</a:t>
            </a:r>
            <a:r>
              <a:rPr lang="en-IN" sz="1800" dirty="0">
                <a:latin typeface="Times New Roman" panose="02020603050405020304" pitchFamily="18" charset="0"/>
                <a:cs typeface="Times New Roman" panose="02020603050405020304" pitchFamily="18" charset="0"/>
              </a:rPr>
              <a:t> – Code development </a:t>
            </a:r>
          </a:p>
          <a:p>
            <a:pPr lvl="1">
              <a:buFont typeface="Arial" panose="020B0604020202020204" pitchFamily="34" charset="0"/>
              <a:buChar char="•"/>
            </a:pPr>
            <a:r>
              <a:rPr lang="en-IN" sz="1800" b="1" dirty="0" err="1">
                <a:latin typeface="Times New Roman" panose="02020603050405020304" pitchFamily="18" charset="0"/>
                <a:cs typeface="Times New Roman" panose="02020603050405020304" pitchFamily="18" charset="0"/>
              </a:rPr>
              <a:t>WiFi</a:t>
            </a:r>
            <a:r>
              <a:rPr lang="en-IN" sz="1800" b="1" dirty="0">
                <a:latin typeface="Times New Roman" panose="02020603050405020304" pitchFamily="18" charset="0"/>
                <a:cs typeface="Times New Roman" panose="02020603050405020304" pitchFamily="18" charset="0"/>
              </a:rPr>
              <a:t> Communication</a:t>
            </a:r>
            <a:r>
              <a:rPr lang="en-IN" sz="1800" dirty="0">
                <a:latin typeface="Times New Roman" panose="02020603050405020304" pitchFamily="18" charset="0"/>
                <a:cs typeface="Times New Roman" panose="02020603050405020304" pitchFamily="18" charset="0"/>
              </a:rPr>
              <a:t> – Wireless connectivity </a:t>
            </a:r>
          </a:p>
          <a:p>
            <a:pPr marL="114300" indent="0">
              <a:buNone/>
            </a:pPr>
            <a:endParaRPr lang="en-IN" sz="1800" dirty="0"/>
          </a:p>
          <a:p>
            <a:pPr marL="342900" lvl="0" indent="-139700" algn="l" rtl="0">
              <a:spcBef>
                <a:spcPts val="0"/>
              </a:spcBef>
              <a:spcAft>
                <a:spcPts val="0"/>
              </a:spcAft>
              <a:buClr>
                <a:schemeClr val="dk1"/>
              </a:buClr>
              <a:buSzPts val="3200"/>
              <a:buNone/>
            </a:pPr>
            <a:endParaRPr dirty="0"/>
          </a:p>
        </p:txBody>
      </p:sp>
      <p:pic>
        <p:nvPicPr>
          <p:cNvPr id="2" name="Picture 1">
            <a:extLst>
              <a:ext uri="{FF2B5EF4-FFF2-40B4-BE49-F238E27FC236}">
                <a16:creationId xmlns:a16="http://schemas.microsoft.com/office/drawing/2014/main" id="{248C4D2E-24CA-63ED-18B3-749E7D46EBF7}"/>
              </a:ext>
            </a:extLst>
          </p:cNvPr>
          <p:cNvPicPr>
            <a:picLocks noChangeAspect="1"/>
          </p:cNvPicPr>
          <p:nvPr/>
        </p:nvPicPr>
        <p:blipFill>
          <a:blip r:embed="rId3"/>
          <a:stretch>
            <a:fillRect/>
          </a:stretch>
        </p:blipFill>
        <p:spPr>
          <a:xfrm>
            <a:off x="228600" y="141262"/>
            <a:ext cx="1672059" cy="914082"/>
          </a:xfrm>
          <a:prstGeom prst="rect">
            <a:avLst/>
          </a:prstGeom>
        </p:spPr>
      </p:pic>
      <p:sp>
        <p:nvSpPr>
          <p:cNvPr id="3" name="Footer Placeholder 3">
            <a:extLst>
              <a:ext uri="{FF2B5EF4-FFF2-40B4-BE49-F238E27FC236}">
                <a16:creationId xmlns:a16="http://schemas.microsoft.com/office/drawing/2014/main" id="{FB5429CA-0E2C-FAA4-5D84-C35B27A67B88}"/>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3"/>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MODULE OUTPUT </a:t>
            </a:r>
          </a:p>
        </p:txBody>
      </p:sp>
      <p:pic>
        <p:nvPicPr>
          <p:cNvPr id="2" name="Picture 1">
            <a:extLst>
              <a:ext uri="{FF2B5EF4-FFF2-40B4-BE49-F238E27FC236}">
                <a16:creationId xmlns:a16="http://schemas.microsoft.com/office/drawing/2014/main" id="{C7B02D80-383A-0BB3-97FC-7C79F8B9E172}"/>
              </a:ext>
            </a:extLst>
          </p:cNvPr>
          <p:cNvPicPr>
            <a:picLocks noChangeAspect="1"/>
          </p:cNvPicPr>
          <p:nvPr/>
        </p:nvPicPr>
        <p:blipFill>
          <a:blip r:embed="rId3" cstate="print"/>
          <a:stretch>
            <a:fillRect/>
          </a:stretch>
        </p:blipFill>
        <p:spPr>
          <a:xfrm>
            <a:off x="643890" y="1496853"/>
            <a:ext cx="3379470" cy="2038349"/>
          </a:xfrm>
          <a:prstGeom prst="rect">
            <a:avLst/>
          </a:prstGeom>
        </p:spPr>
      </p:pic>
      <p:pic>
        <p:nvPicPr>
          <p:cNvPr id="3" name="Picture 2">
            <a:extLst>
              <a:ext uri="{FF2B5EF4-FFF2-40B4-BE49-F238E27FC236}">
                <a16:creationId xmlns:a16="http://schemas.microsoft.com/office/drawing/2014/main" id="{EE169542-F5D4-8DF4-9FCF-4A1B8ED375C9}"/>
              </a:ext>
            </a:extLst>
          </p:cNvPr>
          <p:cNvPicPr>
            <a:picLocks noChangeAspect="1"/>
          </p:cNvPicPr>
          <p:nvPr/>
        </p:nvPicPr>
        <p:blipFill>
          <a:blip r:embed="rId4" cstate="print"/>
          <a:stretch>
            <a:fillRect/>
          </a:stretch>
        </p:blipFill>
        <p:spPr>
          <a:xfrm>
            <a:off x="4986020" y="1496853"/>
            <a:ext cx="3263900" cy="2038350"/>
          </a:xfrm>
          <a:prstGeom prst="rect">
            <a:avLst/>
          </a:prstGeom>
        </p:spPr>
      </p:pic>
      <p:pic>
        <p:nvPicPr>
          <p:cNvPr id="4" name="Picture 3">
            <a:extLst>
              <a:ext uri="{FF2B5EF4-FFF2-40B4-BE49-F238E27FC236}">
                <a16:creationId xmlns:a16="http://schemas.microsoft.com/office/drawing/2014/main" id="{5A455D3B-E88C-03A7-49F2-D85748553A21}"/>
              </a:ext>
            </a:extLst>
          </p:cNvPr>
          <p:cNvPicPr>
            <a:picLocks noChangeAspect="1"/>
          </p:cNvPicPr>
          <p:nvPr/>
        </p:nvPicPr>
        <p:blipFill>
          <a:blip r:embed="rId5" cstate="print"/>
          <a:srcRect l="1" r="1447"/>
          <a:stretch>
            <a:fillRect/>
          </a:stretch>
        </p:blipFill>
        <p:spPr>
          <a:xfrm>
            <a:off x="2526029" y="4041456"/>
            <a:ext cx="4091941" cy="2142173"/>
          </a:xfrm>
          <a:prstGeom prst="rect">
            <a:avLst/>
          </a:prstGeom>
        </p:spPr>
      </p:pic>
      <p:sp>
        <p:nvSpPr>
          <p:cNvPr id="6" name="Footer Placeholder 3">
            <a:extLst>
              <a:ext uri="{FF2B5EF4-FFF2-40B4-BE49-F238E27FC236}">
                <a16:creationId xmlns:a16="http://schemas.microsoft.com/office/drawing/2014/main" id="{81C50D6D-0382-0D60-32AE-F3CA4133DA01}"/>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57174"/>
            <a:ext cx="8229600" cy="1143000"/>
          </a:xfrm>
        </p:spPr>
        <p:txBody>
          <a:bodyPr/>
          <a:lstStyle/>
          <a:p>
            <a:r>
              <a:rPr lang="en-US" dirty="0"/>
              <a:t>RESULTS AND DISCUSSIONS</a:t>
            </a:r>
            <a:endParaRPr lang="en-IN" dirty="0"/>
          </a:p>
        </p:txBody>
      </p:sp>
      <p:graphicFrame>
        <p:nvGraphicFramePr>
          <p:cNvPr id="24" name="Table 23">
            <a:extLst>
              <a:ext uri="{FF2B5EF4-FFF2-40B4-BE49-F238E27FC236}">
                <a16:creationId xmlns:a16="http://schemas.microsoft.com/office/drawing/2014/main" id="{12700698-9A06-035A-D4F1-E61F3BDD3112}"/>
              </a:ext>
            </a:extLst>
          </p:cNvPr>
          <p:cNvGraphicFramePr>
            <a:graphicFrameLocks noGrp="1"/>
          </p:cNvGraphicFramePr>
          <p:nvPr>
            <p:extLst>
              <p:ext uri="{D42A27DB-BD31-4B8C-83A1-F6EECF244321}">
                <p14:modId xmlns:p14="http://schemas.microsoft.com/office/powerpoint/2010/main" val="4267720193"/>
              </p:ext>
            </p:extLst>
          </p:nvPr>
        </p:nvGraphicFramePr>
        <p:xfrm>
          <a:off x="526983" y="1516086"/>
          <a:ext cx="8090034" cy="4661606"/>
        </p:xfrm>
        <a:graphic>
          <a:graphicData uri="http://schemas.openxmlformats.org/drawingml/2006/table">
            <a:tbl>
              <a:tblPr/>
              <a:tblGrid>
                <a:gridCol w="1943949">
                  <a:extLst>
                    <a:ext uri="{9D8B030D-6E8A-4147-A177-3AD203B41FA5}">
                      <a16:colId xmlns:a16="http://schemas.microsoft.com/office/drawing/2014/main" val="3124622603"/>
                    </a:ext>
                  </a:extLst>
                </a:gridCol>
                <a:gridCol w="2048695">
                  <a:extLst>
                    <a:ext uri="{9D8B030D-6E8A-4147-A177-3AD203B41FA5}">
                      <a16:colId xmlns:a16="http://schemas.microsoft.com/office/drawing/2014/main" val="3890776002"/>
                    </a:ext>
                  </a:extLst>
                </a:gridCol>
                <a:gridCol w="2048695">
                  <a:extLst>
                    <a:ext uri="{9D8B030D-6E8A-4147-A177-3AD203B41FA5}">
                      <a16:colId xmlns:a16="http://schemas.microsoft.com/office/drawing/2014/main" val="981607097"/>
                    </a:ext>
                  </a:extLst>
                </a:gridCol>
                <a:gridCol w="2048695">
                  <a:extLst>
                    <a:ext uri="{9D8B030D-6E8A-4147-A177-3AD203B41FA5}">
                      <a16:colId xmlns:a16="http://schemas.microsoft.com/office/drawing/2014/main" val="2881110998"/>
                    </a:ext>
                  </a:extLst>
                </a:gridCol>
              </a:tblGrid>
              <a:tr h="431459">
                <a:tc>
                  <a:txBody>
                    <a:bodyPr/>
                    <a:lstStyle/>
                    <a:p>
                      <a:pPr algn="ctr">
                        <a:buNone/>
                      </a:pPr>
                      <a:r>
                        <a:rPr lang="en-IN" sz="1200" b="1" dirty="0">
                          <a:latin typeface="Times New Roman" panose="02020603050405020304" pitchFamily="18" charset="0"/>
                          <a:cs typeface="Times New Roman" panose="02020603050405020304" pitchFamily="18" charset="0"/>
                        </a:rPr>
                        <a:t>Parameter</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latin typeface="Times New Roman" panose="02020603050405020304" pitchFamily="18" charset="0"/>
                          <a:cs typeface="Times New Roman" panose="02020603050405020304" pitchFamily="18" charset="0"/>
                        </a:rPr>
                        <a:t>Traditional Method</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err="1">
                          <a:latin typeface="Times New Roman" panose="02020603050405020304" pitchFamily="18" charset="0"/>
                          <a:cs typeface="Times New Roman" panose="02020603050405020304" pitchFamily="18" charset="0"/>
                        </a:rPr>
                        <a:t>FarmBot</a:t>
                      </a:r>
                      <a:r>
                        <a:rPr lang="en-IN" sz="1200" b="1" dirty="0">
                          <a:latin typeface="Times New Roman" panose="02020603050405020304" pitchFamily="18" charset="0"/>
                          <a:cs typeface="Times New Roman" panose="02020603050405020304" pitchFamily="18" charset="0"/>
                        </a:rPr>
                        <a:t> Genesis (Existing System)</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latin typeface="Times New Roman" panose="02020603050405020304" pitchFamily="18" charset="0"/>
                          <a:cs typeface="Times New Roman" panose="02020603050405020304" pitchFamily="18" charset="0"/>
                        </a:rPr>
                        <a:t>Proposed </a:t>
                      </a:r>
                      <a:r>
                        <a:rPr lang="en-IN" sz="1200" b="1" dirty="0" err="1">
                          <a:latin typeface="Times New Roman" panose="02020603050405020304" pitchFamily="18" charset="0"/>
                          <a:cs typeface="Times New Roman" panose="02020603050405020304" pitchFamily="18" charset="0"/>
                        </a:rPr>
                        <a:t>AgriMind</a:t>
                      </a:r>
                      <a:r>
                        <a:rPr lang="en-IN" sz="1200" b="1" dirty="0">
                          <a:latin typeface="Times New Roman" panose="02020603050405020304" pitchFamily="18" charset="0"/>
                          <a:cs typeface="Times New Roman" panose="02020603050405020304" pitchFamily="18" charset="0"/>
                        </a:rPr>
                        <a:t> System</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7386402"/>
                  </a:ext>
                </a:extLst>
              </a:tr>
              <a:tr h="375764">
                <a:tc>
                  <a:txBody>
                    <a:bodyPr/>
                    <a:lstStyle/>
                    <a:p>
                      <a:pPr>
                        <a:buNone/>
                      </a:pPr>
                      <a:r>
                        <a:rPr lang="en-IN" sz="1200" dirty="0">
                          <a:latin typeface="Times New Roman" panose="02020603050405020304" pitchFamily="18" charset="0"/>
                          <a:cs typeface="Times New Roman" panose="02020603050405020304" pitchFamily="18" charset="0"/>
                        </a:rPr>
                        <a:t>Monitoring Type</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Manual inspection</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Automated but fixed system</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Mobile + IoT + GPS</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2464434"/>
                  </a:ext>
                </a:extLst>
              </a:tr>
              <a:tr h="375764">
                <a:tc>
                  <a:txBody>
                    <a:bodyPr/>
                    <a:lstStyle/>
                    <a:p>
                      <a:pPr>
                        <a:buNone/>
                      </a:pPr>
                      <a:r>
                        <a:rPr lang="en-IN" sz="1200" dirty="0">
                          <a:latin typeface="Times New Roman" panose="02020603050405020304" pitchFamily="18" charset="0"/>
                          <a:cs typeface="Times New Roman" panose="02020603050405020304" pitchFamily="18" charset="0"/>
                        </a:rPr>
                        <a:t>Field Coverage</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Limited</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Fixed area only</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Full field (dynamic coverage)</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4518044"/>
                  </a:ext>
                </a:extLst>
              </a:tr>
              <a:tr h="248885">
                <a:tc>
                  <a:txBody>
                    <a:bodyPr/>
                    <a:lstStyle/>
                    <a:p>
                      <a:pPr>
                        <a:buNone/>
                      </a:pPr>
                      <a:r>
                        <a:rPr lang="en-IN" sz="1200">
                          <a:latin typeface="Times New Roman" panose="02020603050405020304" pitchFamily="18" charset="0"/>
                          <a:cs typeface="Times New Roman" panose="02020603050405020304" pitchFamily="18" charset="0"/>
                        </a:rPr>
                        <a:t>Mobility</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No</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No (gantry-based)</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Yes (mobile robot)</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2638870"/>
                  </a:ext>
                </a:extLst>
              </a:tr>
              <a:tr h="375764">
                <a:tc>
                  <a:txBody>
                    <a:bodyPr/>
                    <a:lstStyle/>
                    <a:p>
                      <a:pPr>
                        <a:buNone/>
                      </a:pPr>
                      <a:r>
                        <a:rPr lang="en-IN" sz="1200">
                          <a:latin typeface="Times New Roman" panose="02020603050405020304" pitchFamily="18" charset="0"/>
                          <a:cs typeface="Times New Roman" panose="02020603050405020304" pitchFamily="18" charset="0"/>
                        </a:rPr>
                        <a:t>Data Accuracy</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Low</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Medium</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High (multi-point sensing)</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8762180"/>
                  </a:ext>
                </a:extLst>
              </a:tr>
              <a:tr h="248885">
                <a:tc>
                  <a:txBody>
                    <a:bodyPr/>
                    <a:lstStyle/>
                    <a:p>
                      <a:pPr>
                        <a:buNone/>
                      </a:pPr>
                      <a:r>
                        <a:rPr lang="en-IN" sz="1200">
                          <a:latin typeface="Times New Roman" panose="02020603050405020304" pitchFamily="18" charset="0"/>
                          <a:cs typeface="Times New Roman" panose="02020603050405020304" pitchFamily="18" charset="0"/>
                        </a:rPr>
                        <a:t>Root-zone Analysis</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No</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No</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Yes</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4484536"/>
                  </a:ext>
                </a:extLst>
              </a:tr>
              <a:tr h="375764">
                <a:tc>
                  <a:txBody>
                    <a:bodyPr/>
                    <a:lstStyle/>
                    <a:p>
                      <a:pPr>
                        <a:buNone/>
                      </a:pPr>
                      <a:r>
                        <a:rPr lang="en-IN" sz="1200">
                          <a:latin typeface="Times New Roman" panose="02020603050405020304" pitchFamily="18" charset="0"/>
                          <a:cs typeface="Times New Roman" panose="02020603050405020304" pitchFamily="18" charset="0"/>
                        </a:rPr>
                        <a:t>Sensing Type</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Surface level</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Surface level sensors</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Root-zone + multi-sensor</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383382"/>
                  </a:ext>
                </a:extLst>
              </a:tr>
              <a:tr h="482253">
                <a:tc>
                  <a:txBody>
                    <a:bodyPr/>
                    <a:lstStyle/>
                    <a:p>
                      <a:pPr>
                        <a:buNone/>
                      </a:pPr>
                      <a:r>
                        <a:rPr lang="en-IN" sz="1200">
                          <a:latin typeface="Times New Roman" panose="02020603050405020304" pitchFamily="18" charset="0"/>
                          <a:cs typeface="Times New Roman" panose="02020603050405020304" pitchFamily="18" charset="0"/>
                        </a:rPr>
                        <a:t>Automation Level</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None</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Partial automation</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Full (closed-loop control)</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2942915"/>
                  </a:ext>
                </a:extLst>
              </a:tr>
              <a:tr h="375764">
                <a:tc>
                  <a:txBody>
                    <a:bodyPr/>
                    <a:lstStyle/>
                    <a:p>
                      <a:pPr>
                        <a:buNone/>
                      </a:pPr>
                      <a:r>
                        <a:rPr lang="en-IN" sz="1200" dirty="0">
                          <a:latin typeface="Times New Roman" panose="02020603050405020304" pitchFamily="18" charset="0"/>
                          <a:cs typeface="Times New Roman" panose="02020603050405020304" pitchFamily="18" charset="0"/>
                        </a:rPr>
                        <a:t>Crop Yield</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Low</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Moderate</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High (≈28% improvement)</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3368733"/>
                  </a:ext>
                </a:extLst>
              </a:tr>
              <a:tr h="248885">
                <a:tc>
                  <a:txBody>
                    <a:bodyPr/>
                    <a:lstStyle/>
                    <a:p>
                      <a:pPr>
                        <a:buNone/>
                      </a:pPr>
                      <a:r>
                        <a:rPr lang="en-IN" sz="1200">
                          <a:latin typeface="Times New Roman" panose="02020603050405020304" pitchFamily="18" charset="0"/>
                          <a:cs typeface="Times New Roman" panose="02020603050405020304" pitchFamily="18" charset="0"/>
                        </a:rPr>
                        <a:t>Labor Requirement</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High</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Medium</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Low (≈32 hrs reduction)</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4862176"/>
                  </a:ext>
                </a:extLst>
              </a:tr>
              <a:tr h="248885">
                <a:tc>
                  <a:txBody>
                    <a:bodyPr/>
                    <a:lstStyle/>
                    <a:p>
                      <a:pPr>
                        <a:buNone/>
                      </a:pPr>
                      <a:r>
                        <a:rPr lang="en-IN" sz="1200">
                          <a:latin typeface="Times New Roman" panose="02020603050405020304" pitchFamily="18" charset="0"/>
                          <a:cs typeface="Times New Roman" panose="02020603050405020304" pitchFamily="18" charset="0"/>
                        </a:rPr>
                        <a:t>GPS Mapping</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No</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No</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Yes</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1950291"/>
                  </a:ext>
                </a:extLst>
              </a:tr>
              <a:tr h="248885">
                <a:tc>
                  <a:txBody>
                    <a:bodyPr/>
                    <a:lstStyle/>
                    <a:p>
                      <a:pPr>
                        <a:buNone/>
                      </a:pPr>
                      <a:r>
                        <a:rPr lang="en-IN" sz="1200">
                          <a:latin typeface="Times New Roman" panose="02020603050405020304" pitchFamily="18" charset="0"/>
                          <a:cs typeface="Times New Roman" panose="02020603050405020304" pitchFamily="18" charset="0"/>
                        </a:rPr>
                        <a:t>Real-time Monitoring</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No</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Yes (limited)</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Yes (continuous)</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6479619"/>
                  </a:ext>
                </a:extLst>
              </a:tr>
              <a:tr h="248885">
                <a:tc>
                  <a:txBody>
                    <a:bodyPr/>
                    <a:lstStyle/>
                    <a:p>
                      <a:pPr>
                        <a:buNone/>
                      </a:pPr>
                      <a:r>
                        <a:rPr lang="en-IN" sz="1200">
                          <a:latin typeface="Times New Roman" panose="02020603050405020304" pitchFamily="18" charset="0"/>
                          <a:cs typeface="Times New Roman" panose="02020603050405020304" pitchFamily="18" charset="0"/>
                        </a:rPr>
                        <a:t>Scalability</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Low</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Limited</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High</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7210117"/>
                  </a:ext>
                </a:extLst>
              </a:tr>
              <a:tr h="375764">
                <a:tc>
                  <a:txBody>
                    <a:bodyPr/>
                    <a:lstStyle/>
                    <a:p>
                      <a:pPr>
                        <a:buNone/>
                      </a:pPr>
                      <a:r>
                        <a:rPr lang="en-IN" sz="1200">
                          <a:latin typeface="Times New Roman" panose="02020603050405020304" pitchFamily="18" charset="0"/>
                          <a:cs typeface="Times New Roman" panose="02020603050405020304" pitchFamily="18" charset="0"/>
                        </a:rPr>
                        <a:t>Suitability for Paddy Fields</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Poor</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Not suitable</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Highly suitable</a:t>
                      </a:r>
                    </a:p>
                  </a:txBody>
                  <a:tcPr marL="60887" marR="60887" marT="30444" marB="304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0272904"/>
                  </a:ext>
                </a:extLst>
              </a:tr>
            </a:tbl>
          </a:graphicData>
        </a:graphic>
      </p:graphicFrame>
      <p:sp>
        <p:nvSpPr>
          <p:cNvPr id="4" name="Footer Placeholder 3">
            <a:extLst>
              <a:ext uri="{FF2B5EF4-FFF2-40B4-BE49-F238E27FC236}">
                <a16:creationId xmlns:a16="http://schemas.microsoft.com/office/drawing/2014/main" id="{52417728-DAA1-61A3-2A2B-8E2A65DC31ED}"/>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extLst>
      <p:ext uri="{BB962C8B-B14F-4D97-AF65-F5344CB8AC3E}">
        <p14:creationId xmlns:p14="http://schemas.microsoft.com/office/powerpoint/2010/main" val="426180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en-IN" dirty="0"/>
          </a:p>
        </p:txBody>
      </p:sp>
      <p:sp>
        <p:nvSpPr>
          <p:cNvPr id="3" name="Text Placeholder 2"/>
          <p:cNvSpPr>
            <a:spLocks noGrp="1"/>
          </p:cNvSpPr>
          <p:nvPr>
            <p:ph type="body" idx="1"/>
          </p:nvPr>
        </p:nvSpPr>
        <p:spPr/>
        <p:txBody>
          <a:bodyPr>
            <a:normAutofit fontScale="62500" lnSpcReduction="20000"/>
          </a:bodyPr>
          <a:lstStyle/>
          <a:p>
            <a:pPr marL="435609" indent="-343535">
              <a:spcBef>
                <a:spcPts val="2910"/>
              </a:spcBef>
              <a:buAutoNum type="arabicPeriod"/>
              <a:tabLst>
                <a:tab pos="435609" algn="l"/>
              </a:tabLst>
            </a:pPr>
            <a:r>
              <a:rPr lang="en-US" b="1" spc="-20" dirty="0"/>
              <a:t>Integrated</a:t>
            </a:r>
            <a:r>
              <a:rPr lang="en-US" b="1" spc="-60" dirty="0"/>
              <a:t> </a:t>
            </a:r>
            <a:r>
              <a:rPr lang="en-US" b="1" spc="-10" dirty="0"/>
              <a:t>System</a:t>
            </a:r>
            <a:r>
              <a:rPr lang="en-US" b="1" spc="-65" dirty="0"/>
              <a:t> </a:t>
            </a:r>
            <a:r>
              <a:rPr lang="en-US" b="1" spc="-10" dirty="0"/>
              <a:t>Proven</a:t>
            </a:r>
            <a:endParaRPr lang="en-US" dirty="0"/>
          </a:p>
          <a:p>
            <a:pPr marL="549275" marR="541655" indent="0">
              <a:buNone/>
            </a:pPr>
            <a:r>
              <a:rPr lang="en-US" dirty="0"/>
              <a:t>First</a:t>
            </a:r>
            <a:r>
              <a:rPr lang="en-US" spc="-85" dirty="0"/>
              <a:t> </a:t>
            </a:r>
            <a:r>
              <a:rPr lang="en-US" dirty="0"/>
              <a:t>unified</a:t>
            </a:r>
            <a:r>
              <a:rPr lang="en-US" spc="-90" dirty="0"/>
              <a:t> </a:t>
            </a:r>
            <a:r>
              <a:rPr lang="en-US" dirty="0"/>
              <a:t>platform</a:t>
            </a:r>
            <a:r>
              <a:rPr lang="en-US" spc="-90" dirty="0"/>
              <a:t> </a:t>
            </a:r>
            <a:r>
              <a:rPr lang="en-US" dirty="0"/>
              <a:t>combining</a:t>
            </a:r>
            <a:r>
              <a:rPr lang="en-US" spc="-70" dirty="0"/>
              <a:t> </a:t>
            </a:r>
            <a:r>
              <a:rPr lang="en-US" spc="-25" dirty="0"/>
              <a:t>IoT </a:t>
            </a:r>
            <a:r>
              <a:rPr lang="en-US" dirty="0"/>
              <a:t>monitoring</a:t>
            </a:r>
            <a:r>
              <a:rPr lang="en-US" spc="-45" dirty="0"/>
              <a:t> </a:t>
            </a:r>
            <a:r>
              <a:rPr lang="en-US" dirty="0"/>
              <a:t>+</a:t>
            </a:r>
            <a:r>
              <a:rPr lang="en-US" spc="-55" dirty="0"/>
              <a:t> </a:t>
            </a:r>
            <a:r>
              <a:rPr lang="en-US" dirty="0"/>
              <a:t>autonomous</a:t>
            </a:r>
            <a:r>
              <a:rPr lang="en-US" spc="-40" dirty="0"/>
              <a:t> </a:t>
            </a:r>
            <a:r>
              <a:rPr lang="en-US" spc="-10" dirty="0"/>
              <a:t>actuation</a:t>
            </a:r>
            <a:endParaRPr lang="en-US" dirty="0"/>
          </a:p>
          <a:p>
            <a:pPr marL="435609" indent="-343535">
              <a:buAutoNum type="arabicPeriod" startAt="2"/>
              <a:tabLst>
                <a:tab pos="435609" algn="l"/>
              </a:tabLst>
            </a:pPr>
            <a:r>
              <a:rPr lang="en-US" b="1" dirty="0"/>
              <a:t>Quantified</a:t>
            </a:r>
            <a:r>
              <a:rPr lang="en-US" b="1" spc="-35" dirty="0"/>
              <a:t> </a:t>
            </a:r>
            <a:r>
              <a:rPr lang="en-US" b="1" dirty="0"/>
              <a:t>Benefits</a:t>
            </a:r>
            <a:r>
              <a:rPr lang="en-US" b="1" spc="-40" dirty="0"/>
              <a:t> </a:t>
            </a:r>
            <a:r>
              <a:rPr lang="en-US" spc="-50" dirty="0"/>
              <a:t>–</a:t>
            </a:r>
          </a:p>
          <a:p>
            <a:pPr marL="92074" indent="0">
              <a:buNone/>
              <a:tabLst>
                <a:tab pos="435609" algn="l"/>
              </a:tabLst>
            </a:pPr>
            <a:r>
              <a:rPr lang="en-US" spc="-50" dirty="0"/>
              <a:t>	</a:t>
            </a:r>
            <a:r>
              <a:rPr lang="en-US" dirty="0"/>
              <a:t>42%</a:t>
            </a:r>
            <a:r>
              <a:rPr lang="en-US" spc="-55" dirty="0"/>
              <a:t> </a:t>
            </a:r>
            <a:r>
              <a:rPr lang="en-US" dirty="0"/>
              <a:t>water</a:t>
            </a:r>
            <a:r>
              <a:rPr lang="en-US" spc="-45" dirty="0"/>
              <a:t> </a:t>
            </a:r>
            <a:r>
              <a:rPr lang="en-US" dirty="0"/>
              <a:t>savings,</a:t>
            </a:r>
            <a:r>
              <a:rPr lang="en-US" spc="-65" dirty="0"/>
              <a:t> </a:t>
            </a:r>
            <a:r>
              <a:rPr lang="en-US" dirty="0"/>
              <a:t>28%</a:t>
            </a:r>
            <a:r>
              <a:rPr lang="en-US" spc="-55" dirty="0"/>
              <a:t> </a:t>
            </a:r>
            <a:r>
              <a:rPr lang="en-US" spc="-20" dirty="0"/>
              <a:t>yield </a:t>
            </a:r>
            <a:r>
              <a:rPr lang="en-US" spc="-10" dirty="0"/>
              <a:t>improvement,</a:t>
            </a:r>
            <a:r>
              <a:rPr lang="en-US" spc="-55" dirty="0"/>
              <a:t> </a:t>
            </a:r>
            <a:r>
              <a:rPr lang="en-US" dirty="0"/>
              <a:t>32</a:t>
            </a:r>
            <a:r>
              <a:rPr lang="en-US" spc="-65" dirty="0"/>
              <a:t> </a:t>
            </a:r>
            <a:r>
              <a:rPr lang="en-US" dirty="0" err="1"/>
              <a:t>hrs</a:t>
            </a:r>
            <a:r>
              <a:rPr lang="en-US" dirty="0"/>
              <a:t>/month</a:t>
            </a:r>
            <a:r>
              <a:rPr lang="en-US" spc="-60" dirty="0"/>
              <a:t> </a:t>
            </a:r>
            <a:r>
              <a:rPr lang="en-US" spc="-10" dirty="0"/>
              <a:t>labor reduction</a:t>
            </a:r>
            <a:endParaRPr lang="en-US" dirty="0"/>
          </a:p>
          <a:p>
            <a:pPr marL="435609" indent="-343535">
              <a:buAutoNum type="arabicPeriod" startAt="3"/>
              <a:tabLst>
                <a:tab pos="435609" algn="l"/>
              </a:tabLst>
            </a:pPr>
            <a:r>
              <a:rPr lang="en-US" b="1" spc="-10" dirty="0"/>
              <a:t>Affordable</a:t>
            </a:r>
            <a:r>
              <a:rPr lang="en-US" b="1" spc="-60" dirty="0"/>
              <a:t> </a:t>
            </a:r>
            <a:r>
              <a:rPr lang="en-US" b="1" dirty="0"/>
              <a:t>&amp;</a:t>
            </a:r>
            <a:r>
              <a:rPr lang="en-US" b="1" spc="-35" dirty="0"/>
              <a:t> </a:t>
            </a:r>
            <a:r>
              <a:rPr lang="en-US" b="1" spc="-10" dirty="0"/>
              <a:t>Scalable</a:t>
            </a:r>
            <a:endParaRPr lang="en-US" dirty="0"/>
          </a:p>
          <a:p>
            <a:pPr marL="206375" indent="0">
              <a:buNone/>
            </a:pPr>
            <a:r>
              <a:rPr lang="en-US" dirty="0"/>
              <a:t>	ROI</a:t>
            </a:r>
            <a:r>
              <a:rPr lang="en-US" spc="-20" dirty="0"/>
              <a:t> </a:t>
            </a:r>
            <a:r>
              <a:rPr lang="en-US" dirty="0"/>
              <a:t>accessible</a:t>
            </a:r>
            <a:r>
              <a:rPr lang="en-US" spc="-20" dirty="0"/>
              <a:t> </a:t>
            </a:r>
            <a:r>
              <a:rPr lang="en-US" dirty="0"/>
              <a:t>to</a:t>
            </a:r>
            <a:r>
              <a:rPr lang="en-US" spc="-10" dirty="0"/>
              <a:t> </a:t>
            </a:r>
            <a:r>
              <a:rPr lang="en-US" dirty="0"/>
              <a:t>small</a:t>
            </a:r>
            <a:r>
              <a:rPr lang="en-US" spc="-20" dirty="0"/>
              <a:t> </a:t>
            </a:r>
            <a:r>
              <a:rPr lang="en-US" spc="-10" dirty="0"/>
              <a:t>farmers</a:t>
            </a:r>
            <a:endParaRPr lang="en-US" dirty="0"/>
          </a:p>
          <a:p>
            <a:pPr marL="435609" indent="-343535">
              <a:buAutoNum type="arabicPeriod" startAt="4"/>
              <a:tabLst>
                <a:tab pos="435609" algn="l"/>
              </a:tabLst>
            </a:pPr>
            <a:r>
              <a:rPr lang="en-US" b="1" dirty="0"/>
              <a:t>Bridges</a:t>
            </a:r>
            <a:r>
              <a:rPr lang="en-US" b="1" spc="-75" dirty="0"/>
              <a:t> </a:t>
            </a:r>
            <a:r>
              <a:rPr lang="en-US" b="1" dirty="0"/>
              <a:t>the</a:t>
            </a:r>
            <a:r>
              <a:rPr lang="en-US" b="1" spc="-45" dirty="0"/>
              <a:t> </a:t>
            </a:r>
            <a:r>
              <a:rPr lang="en-US" b="1" spc="-25" dirty="0"/>
              <a:t>Gap</a:t>
            </a:r>
            <a:endParaRPr lang="en-US" dirty="0"/>
          </a:p>
          <a:p>
            <a:pPr marL="206375" marR="271780" indent="0">
              <a:buNone/>
            </a:pPr>
            <a:r>
              <a:rPr lang="en-US" spc="-20" dirty="0"/>
              <a:t>	Transitions</a:t>
            </a:r>
            <a:r>
              <a:rPr lang="en-US" spc="-55" dirty="0"/>
              <a:t> </a:t>
            </a:r>
            <a:r>
              <a:rPr lang="en-US" dirty="0"/>
              <a:t>traditional</a:t>
            </a:r>
            <a:r>
              <a:rPr lang="en-US" spc="-50" dirty="0"/>
              <a:t> </a:t>
            </a:r>
            <a:r>
              <a:rPr lang="en-US" dirty="0"/>
              <a:t>farming</a:t>
            </a:r>
            <a:r>
              <a:rPr lang="en-US" spc="-65" dirty="0"/>
              <a:t> </a:t>
            </a:r>
            <a:r>
              <a:rPr lang="en-US" dirty="0"/>
              <a:t>→</a:t>
            </a:r>
            <a:r>
              <a:rPr lang="en-US" spc="-55" dirty="0"/>
              <a:t> </a:t>
            </a:r>
            <a:r>
              <a:rPr lang="en-US" spc="-10" dirty="0"/>
              <a:t>data- </a:t>
            </a:r>
            <a:r>
              <a:rPr lang="en-US" dirty="0"/>
              <a:t>driven</a:t>
            </a:r>
            <a:r>
              <a:rPr lang="en-US" spc="-60" dirty="0"/>
              <a:t> </a:t>
            </a:r>
            <a:r>
              <a:rPr lang="en-US" dirty="0"/>
              <a:t>precision</a:t>
            </a:r>
            <a:r>
              <a:rPr lang="en-US" spc="-70" dirty="0"/>
              <a:t> </a:t>
            </a:r>
            <a:r>
              <a:rPr lang="en-US" spc="-10" dirty="0"/>
              <a:t>agriculture</a:t>
            </a:r>
            <a:endParaRPr lang="en-US" dirty="0"/>
          </a:p>
          <a:p>
            <a:pPr marL="435609" indent="-343535">
              <a:buAutoNum type="arabicPeriod" startAt="5"/>
              <a:tabLst>
                <a:tab pos="435609" algn="l"/>
              </a:tabLst>
            </a:pPr>
            <a:r>
              <a:rPr lang="en-US" b="1" spc="-10" dirty="0"/>
              <a:t>Foundation</a:t>
            </a:r>
            <a:r>
              <a:rPr lang="en-US" b="1" spc="-45" dirty="0"/>
              <a:t> </a:t>
            </a:r>
            <a:r>
              <a:rPr lang="en-US" b="1" dirty="0"/>
              <a:t>for</a:t>
            </a:r>
            <a:r>
              <a:rPr lang="en-US" b="1" spc="-45" dirty="0"/>
              <a:t> </a:t>
            </a:r>
            <a:r>
              <a:rPr lang="en-US" b="1" spc="-25" dirty="0"/>
              <a:t>AI</a:t>
            </a:r>
            <a:endParaRPr lang="en-US" dirty="0"/>
          </a:p>
          <a:p>
            <a:pPr marL="206375" marR="367665" indent="0">
              <a:buNone/>
            </a:pPr>
            <a:r>
              <a:rPr lang="en-US" dirty="0"/>
              <a:t>	Enables</a:t>
            </a:r>
            <a:r>
              <a:rPr lang="en-US" spc="-65" dirty="0"/>
              <a:t> </a:t>
            </a:r>
            <a:r>
              <a:rPr lang="en-US" dirty="0"/>
              <a:t>future</a:t>
            </a:r>
            <a:r>
              <a:rPr lang="en-US" spc="-60" dirty="0"/>
              <a:t> </a:t>
            </a:r>
            <a:r>
              <a:rPr lang="en-US" spc="-10" dirty="0"/>
              <a:t>integration</a:t>
            </a:r>
            <a:r>
              <a:rPr lang="en-US" spc="-60" dirty="0"/>
              <a:t> </a:t>
            </a:r>
            <a:r>
              <a:rPr lang="en-US" dirty="0"/>
              <a:t>of</a:t>
            </a:r>
            <a:r>
              <a:rPr lang="en-US" spc="-65" dirty="0"/>
              <a:t> </a:t>
            </a:r>
            <a:r>
              <a:rPr lang="en-US" spc="-10" dirty="0"/>
              <a:t>machine </a:t>
            </a:r>
            <a:r>
              <a:rPr lang="en-US" dirty="0"/>
              <a:t>learning</a:t>
            </a:r>
            <a:r>
              <a:rPr lang="en-US" spc="-55" dirty="0"/>
              <a:t> </a:t>
            </a:r>
            <a:r>
              <a:rPr lang="en-US" dirty="0"/>
              <a:t>and</a:t>
            </a:r>
            <a:r>
              <a:rPr lang="en-US" spc="-45" dirty="0"/>
              <a:t> </a:t>
            </a:r>
            <a:r>
              <a:rPr lang="en-US" dirty="0"/>
              <a:t>advanced</a:t>
            </a:r>
            <a:r>
              <a:rPr lang="en-US" spc="-50" dirty="0"/>
              <a:t> </a:t>
            </a:r>
            <a:r>
              <a:rPr lang="en-US" spc="-10" dirty="0"/>
              <a:t>analytics</a:t>
            </a:r>
            <a:endParaRPr lang="en-US" dirty="0"/>
          </a:p>
          <a:p>
            <a:pPr marL="435609" indent="-343535">
              <a:buAutoNum type="arabicPeriod" startAt="6"/>
              <a:tabLst>
                <a:tab pos="435609" algn="l"/>
              </a:tabLst>
            </a:pPr>
            <a:r>
              <a:rPr lang="en-US" b="1" dirty="0"/>
              <a:t>Rural</a:t>
            </a:r>
            <a:r>
              <a:rPr lang="en-US" b="1" spc="-75" dirty="0"/>
              <a:t> </a:t>
            </a:r>
            <a:r>
              <a:rPr lang="en-US" b="1" spc="-10" dirty="0"/>
              <a:t>Transformation</a:t>
            </a:r>
            <a:endParaRPr lang="en-US" dirty="0"/>
          </a:p>
          <a:p>
            <a:pPr marL="206375" marR="451484" indent="0">
              <a:spcBef>
                <a:spcPts val="5"/>
              </a:spcBef>
              <a:buNone/>
            </a:pPr>
            <a:r>
              <a:rPr lang="en-US" spc="-10" dirty="0"/>
              <a:t>	Potential</a:t>
            </a:r>
            <a:r>
              <a:rPr lang="en-US" spc="-45" dirty="0"/>
              <a:t> </a:t>
            </a:r>
            <a:r>
              <a:rPr lang="en-US" dirty="0"/>
              <a:t>to</a:t>
            </a:r>
            <a:r>
              <a:rPr lang="en-US" spc="-30" dirty="0"/>
              <a:t> </a:t>
            </a:r>
            <a:r>
              <a:rPr lang="en-US" spc="-10" dirty="0"/>
              <a:t>revolutionize</a:t>
            </a:r>
            <a:r>
              <a:rPr lang="en-US" spc="-40" dirty="0"/>
              <a:t> </a:t>
            </a:r>
            <a:r>
              <a:rPr lang="en-US" spc="-10" dirty="0"/>
              <a:t>agricultural </a:t>
            </a:r>
            <a:r>
              <a:rPr lang="en-US" dirty="0"/>
              <a:t>livelihoods</a:t>
            </a:r>
            <a:r>
              <a:rPr lang="en-US" spc="-65" dirty="0"/>
              <a:t> </a:t>
            </a:r>
            <a:r>
              <a:rPr lang="en-US" dirty="0"/>
              <a:t>in</a:t>
            </a:r>
            <a:r>
              <a:rPr lang="en-US" spc="-30" dirty="0"/>
              <a:t> </a:t>
            </a:r>
            <a:r>
              <a:rPr lang="en-US" spc="-10" dirty="0"/>
              <a:t>India</a:t>
            </a:r>
            <a:endParaRPr lang="en-US" dirty="0"/>
          </a:p>
          <a:p>
            <a:endParaRPr lang="en-IN" dirty="0"/>
          </a:p>
        </p:txBody>
      </p:sp>
      <p:sp>
        <p:nvSpPr>
          <p:cNvPr id="5" name="Footer Placeholder 3">
            <a:extLst>
              <a:ext uri="{FF2B5EF4-FFF2-40B4-BE49-F238E27FC236}">
                <a16:creationId xmlns:a16="http://schemas.microsoft.com/office/drawing/2014/main" id="{41EAD711-97FE-DA2C-6212-1A4811A6FBB4}"/>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extLst>
      <p:ext uri="{BB962C8B-B14F-4D97-AF65-F5344CB8AC3E}">
        <p14:creationId xmlns:p14="http://schemas.microsoft.com/office/powerpoint/2010/main" val="2995950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a:t>
            </a:r>
            <a:endParaRPr lang="en-IN" dirty="0"/>
          </a:p>
        </p:txBody>
      </p:sp>
      <p:sp>
        <p:nvSpPr>
          <p:cNvPr id="3" name="Text Placeholder 2"/>
          <p:cNvSpPr>
            <a:spLocks noGrp="1"/>
          </p:cNvSpPr>
          <p:nvPr>
            <p:ph type="body" idx="1"/>
          </p:nvPr>
        </p:nvSpPr>
        <p:spPr/>
        <p:txBody>
          <a:bodyPr>
            <a:normAutofit fontScale="47500" lnSpcReduction="20000"/>
          </a:bodyPr>
          <a:lstStyle/>
          <a:p>
            <a:pPr marL="582930" indent="-457200">
              <a:lnSpc>
                <a:spcPct val="120000"/>
              </a:lnSpc>
              <a:spcBef>
                <a:spcPts val="2910"/>
              </a:spcBef>
              <a:buFont typeface="+mj-lt"/>
              <a:buAutoNum type="arabicPeriod"/>
              <a:tabLst>
                <a:tab pos="469265" algn="l"/>
              </a:tabLst>
            </a:pPr>
            <a:r>
              <a:rPr lang="en-US" b="1" spc="-10" dirty="0"/>
              <a:t>V2X Communication with Drone</a:t>
            </a:r>
          </a:p>
          <a:p>
            <a:pPr marL="582930" indent="-457200">
              <a:lnSpc>
                <a:spcPct val="120000"/>
              </a:lnSpc>
              <a:spcBef>
                <a:spcPts val="2910"/>
              </a:spcBef>
              <a:buFont typeface="+mj-lt"/>
              <a:buAutoNum type="arabicPeriod"/>
              <a:tabLst>
                <a:tab pos="469265" algn="l"/>
              </a:tabLst>
            </a:pPr>
            <a:r>
              <a:rPr lang="en-US" b="1" dirty="0"/>
              <a:t>Advanced</a:t>
            </a:r>
            <a:r>
              <a:rPr lang="en-US" b="1" spc="-110" dirty="0"/>
              <a:t> </a:t>
            </a:r>
            <a:r>
              <a:rPr lang="en-US" b="1" spc="-20" dirty="0"/>
              <a:t>ML/AI</a:t>
            </a:r>
            <a:endParaRPr lang="en-US" dirty="0"/>
          </a:p>
          <a:p>
            <a:pPr marL="240030" indent="0">
              <a:lnSpc>
                <a:spcPct val="120000"/>
              </a:lnSpc>
              <a:buNone/>
            </a:pPr>
            <a:r>
              <a:rPr lang="en-US" spc="-10" dirty="0"/>
              <a:t>	Predictive</a:t>
            </a:r>
            <a:r>
              <a:rPr lang="en-US" spc="-35" dirty="0"/>
              <a:t> </a:t>
            </a:r>
            <a:r>
              <a:rPr lang="en-US" dirty="0"/>
              <a:t>analytics</a:t>
            </a:r>
            <a:r>
              <a:rPr lang="en-US" spc="-35" dirty="0"/>
              <a:t> </a:t>
            </a:r>
            <a:r>
              <a:rPr lang="en-US" dirty="0"/>
              <a:t>for</a:t>
            </a:r>
            <a:r>
              <a:rPr lang="en-US" spc="-40" dirty="0"/>
              <a:t> </a:t>
            </a:r>
            <a:r>
              <a:rPr lang="en-US" dirty="0"/>
              <a:t>yield</a:t>
            </a:r>
            <a:r>
              <a:rPr lang="en-US" spc="-40" dirty="0"/>
              <a:t> </a:t>
            </a:r>
            <a:r>
              <a:rPr lang="en-US" spc="-10" dirty="0"/>
              <a:t>forecasting, </a:t>
            </a:r>
            <a:r>
              <a:rPr lang="en-US" dirty="0"/>
              <a:t>early</a:t>
            </a:r>
            <a:r>
              <a:rPr lang="en-US" spc="-60" dirty="0"/>
              <a:t> </a:t>
            </a:r>
            <a:r>
              <a:rPr lang="en-US" dirty="0"/>
              <a:t>pest/disease</a:t>
            </a:r>
            <a:r>
              <a:rPr lang="en-US" spc="-40" dirty="0"/>
              <a:t> </a:t>
            </a:r>
            <a:r>
              <a:rPr lang="en-US" spc="-10" dirty="0"/>
              <a:t>detection</a:t>
            </a:r>
            <a:endParaRPr lang="en-US" dirty="0"/>
          </a:p>
          <a:p>
            <a:pPr marL="582930" marR="82550" indent="-457200">
              <a:lnSpc>
                <a:spcPct val="120000"/>
              </a:lnSpc>
              <a:spcBef>
                <a:spcPts val="5"/>
              </a:spcBef>
              <a:buFont typeface="+mj-lt"/>
              <a:buAutoNum type="arabicPeriod" startAt="3"/>
              <a:tabLst>
                <a:tab pos="582930" algn="l"/>
              </a:tabLst>
            </a:pPr>
            <a:r>
              <a:rPr lang="en-US" b="1" spc="-10" dirty="0"/>
              <a:t>Water</a:t>
            </a:r>
            <a:r>
              <a:rPr lang="en-US" b="1" spc="-70" dirty="0"/>
              <a:t> </a:t>
            </a:r>
            <a:r>
              <a:rPr lang="en-US" b="1" dirty="0"/>
              <a:t>Prediction</a:t>
            </a:r>
            <a:r>
              <a:rPr lang="en-US" b="1" spc="-65" dirty="0"/>
              <a:t> </a:t>
            </a:r>
            <a:r>
              <a:rPr lang="en-US" b="1" dirty="0"/>
              <a:t>and</a:t>
            </a:r>
            <a:r>
              <a:rPr lang="en-US" b="1" spc="-65" dirty="0"/>
              <a:t> </a:t>
            </a:r>
            <a:r>
              <a:rPr lang="en-US" b="1" spc="-10" dirty="0"/>
              <a:t>Control </a:t>
            </a:r>
          </a:p>
          <a:p>
            <a:pPr marL="125730" marR="82550" indent="0">
              <a:lnSpc>
                <a:spcPct val="120000"/>
              </a:lnSpc>
              <a:spcBef>
                <a:spcPts val="5"/>
              </a:spcBef>
              <a:buNone/>
              <a:tabLst>
                <a:tab pos="582930" algn="l"/>
              </a:tabLst>
            </a:pPr>
            <a:r>
              <a:rPr lang="en-US" b="1" spc="-10" dirty="0"/>
              <a:t>		</a:t>
            </a:r>
            <a:r>
              <a:rPr lang="en-US" dirty="0"/>
              <a:t>Automated</a:t>
            </a:r>
            <a:r>
              <a:rPr lang="en-US" spc="-95" dirty="0"/>
              <a:t> </a:t>
            </a:r>
            <a:r>
              <a:rPr lang="en-US" dirty="0"/>
              <a:t>irrigation</a:t>
            </a:r>
            <a:r>
              <a:rPr lang="en-US" spc="-90" dirty="0"/>
              <a:t> </a:t>
            </a:r>
            <a:r>
              <a:rPr lang="en-US" dirty="0"/>
              <a:t>and</a:t>
            </a:r>
            <a:r>
              <a:rPr lang="en-US" spc="-90" dirty="0"/>
              <a:t> </a:t>
            </a:r>
            <a:r>
              <a:rPr lang="en-US" dirty="0"/>
              <a:t>drainage</a:t>
            </a:r>
            <a:r>
              <a:rPr lang="en-US" spc="-100" dirty="0"/>
              <a:t> </a:t>
            </a:r>
            <a:r>
              <a:rPr lang="en-US" spc="-25" dirty="0"/>
              <a:t>of </a:t>
            </a:r>
            <a:r>
              <a:rPr lang="en-US" spc="-10" dirty="0"/>
              <a:t>excess</a:t>
            </a:r>
            <a:r>
              <a:rPr lang="en-US" spc="-85" dirty="0"/>
              <a:t> </a:t>
            </a:r>
            <a:r>
              <a:rPr lang="en-US" dirty="0"/>
              <a:t>water</a:t>
            </a:r>
            <a:r>
              <a:rPr lang="en-US" spc="-75" dirty="0"/>
              <a:t> </a:t>
            </a:r>
            <a:r>
              <a:rPr lang="en-US" dirty="0"/>
              <a:t>for</a:t>
            </a:r>
            <a:r>
              <a:rPr lang="en-US" spc="-95" dirty="0"/>
              <a:t> </a:t>
            </a:r>
            <a:r>
              <a:rPr lang="en-US" dirty="0"/>
              <a:t>minimal</a:t>
            </a:r>
            <a:r>
              <a:rPr lang="en-US" spc="-85" dirty="0"/>
              <a:t> </a:t>
            </a:r>
            <a:r>
              <a:rPr lang="en-US" dirty="0"/>
              <a:t>water</a:t>
            </a:r>
            <a:r>
              <a:rPr lang="en-US" spc="-75" dirty="0"/>
              <a:t> </a:t>
            </a:r>
            <a:r>
              <a:rPr lang="en-US" spc="-10" dirty="0"/>
              <a:t>wastage</a:t>
            </a:r>
            <a:endParaRPr lang="en-US" dirty="0"/>
          </a:p>
          <a:p>
            <a:pPr marL="582930" indent="-457200">
              <a:lnSpc>
                <a:spcPct val="120000"/>
              </a:lnSpc>
              <a:buFont typeface="+mj-lt"/>
              <a:buAutoNum type="arabicPeriod" startAt="4"/>
              <a:tabLst>
                <a:tab pos="469265" algn="l"/>
              </a:tabLst>
            </a:pPr>
            <a:r>
              <a:rPr lang="en-US" b="1" spc="-10" dirty="0"/>
              <a:t>Multi-</a:t>
            </a:r>
            <a:r>
              <a:rPr lang="en-US" b="1" dirty="0"/>
              <a:t>Robot</a:t>
            </a:r>
            <a:r>
              <a:rPr lang="en-US" b="1" spc="-30" dirty="0"/>
              <a:t> </a:t>
            </a:r>
            <a:r>
              <a:rPr lang="en-US" b="1" spc="-10" dirty="0"/>
              <a:t>Swarms</a:t>
            </a:r>
            <a:endParaRPr lang="en-US" dirty="0"/>
          </a:p>
          <a:p>
            <a:pPr marL="240030" indent="0">
              <a:lnSpc>
                <a:spcPct val="120000"/>
              </a:lnSpc>
              <a:buNone/>
            </a:pPr>
            <a:r>
              <a:rPr lang="en-US" dirty="0"/>
              <a:t>	Coordinate</a:t>
            </a:r>
            <a:r>
              <a:rPr lang="en-US" spc="-55" dirty="0"/>
              <a:t> </a:t>
            </a:r>
            <a:r>
              <a:rPr lang="en-US" dirty="0"/>
              <a:t>multiple</a:t>
            </a:r>
            <a:r>
              <a:rPr lang="en-US" spc="-55" dirty="0"/>
              <a:t> </a:t>
            </a:r>
            <a:r>
              <a:rPr lang="en-US" dirty="0"/>
              <a:t>robots</a:t>
            </a:r>
            <a:r>
              <a:rPr lang="en-US" spc="-60" dirty="0"/>
              <a:t> </a:t>
            </a:r>
            <a:r>
              <a:rPr lang="en-US" dirty="0"/>
              <a:t>for</a:t>
            </a:r>
            <a:r>
              <a:rPr lang="en-US" spc="-80" dirty="0"/>
              <a:t> </a:t>
            </a:r>
            <a:r>
              <a:rPr lang="en-US" spc="-10" dirty="0"/>
              <a:t>large-</a:t>
            </a:r>
            <a:r>
              <a:rPr lang="en-US" dirty="0"/>
              <a:t>scale</a:t>
            </a:r>
            <a:r>
              <a:rPr lang="en-US" spc="-35" dirty="0"/>
              <a:t> </a:t>
            </a:r>
            <a:r>
              <a:rPr lang="en-US" dirty="0"/>
              <a:t>farm</a:t>
            </a:r>
            <a:r>
              <a:rPr lang="en-US" spc="-60" dirty="0"/>
              <a:t> </a:t>
            </a:r>
            <a:r>
              <a:rPr lang="en-US" spc="-10" dirty="0"/>
              <a:t>coverage</a:t>
            </a:r>
            <a:endParaRPr lang="en-US" dirty="0"/>
          </a:p>
          <a:p>
            <a:pPr marL="582930" indent="-457200">
              <a:lnSpc>
                <a:spcPct val="120000"/>
              </a:lnSpc>
              <a:buFont typeface="+mj-lt"/>
              <a:buAutoNum type="arabicPeriod" startAt="5"/>
              <a:tabLst>
                <a:tab pos="469265" algn="l"/>
              </a:tabLst>
            </a:pPr>
            <a:r>
              <a:rPr lang="en-US" b="1" dirty="0"/>
              <a:t>Blockchain</a:t>
            </a:r>
            <a:r>
              <a:rPr lang="en-US" b="1" spc="-70" dirty="0"/>
              <a:t> </a:t>
            </a:r>
            <a:r>
              <a:rPr lang="en-US" b="1" spc="-10" dirty="0"/>
              <a:t>Integration</a:t>
            </a:r>
            <a:endParaRPr lang="en-US" dirty="0"/>
          </a:p>
          <a:p>
            <a:pPr marL="582930" marR="898525" indent="0">
              <a:lnSpc>
                <a:spcPct val="120000"/>
              </a:lnSpc>
              <a:buNone/>
            </a:pPr>
            <a:r>
              <a:rPr lang="en-US" dirty="0"/>
              <a:t>	Secure</a:t>
            </a:r>
            <a:r>
              <a:rPr lang="en-US" spc="-45" dirty="0"/>
              <a:t> </a:t>
            </a:r>
            <a:r>
              <a:rPr lang="en-US" dirty="0"/>
              <a:t>data</a:t>
            </a:r>
            <a:r>
              <a:rPr lang="en-US" spc="-45" dirty="0"/>
              <a:t> </a:t>
            </a:r>
            <a:r>
              <a:rPr lang="en-US" dirty="0"/>
              <a:t>sharing,</a:t>
            </a:r>
            <a:r>
              <a:rPr lang="en-US" spc="-50" dirty="0"/>
              <a:t> </a:t>
            </a:r>
            <a:r>
              <a:rPr lang="en-US" spc="-20" dirty="0"/>
              <a:t>traceability, </a:t>
            </a:r>
            <a:r>
              <a:rPr lang="en-US" spc="-10" dirty="0"/>
              <a:t>farmer-</a:t>
            </a:r>
            <a:r>
              <a:rPr lang="en-US" spc="-25" dirty="0"/>
              <a:t>to-</a:t>
            </a:r>
            <a:r>
              <a:rPr lang="en-US" dirty="0"/>
              <a:t>market</a:t>
            </a:r>
            <a:r>
              <a:rPr lang="en-US" spc="-85" dirty="0"/>
              <a:t> </a:t>
            </a:r>
            <a:r>
              <a:rPr lang="en-US" spc="-10" dirty="0"/>
              <a:t>transparency</a:t>
            </a:r>
            <a:endParaRPr lang="en-US" dirty="0"/>
          </a:p>
          <a:p>
            <a:pPr marL="582930" marR="826769" indent="-457200">
              <a:lnSpc>
                <a:spcPct val="120000"/>
              </a:lnSpc>
              <a:buFont typeface="+mj-lt"/>
              <a:buAutoNum type="arabicPeriod" startAt="6"/>
              <a:tabLst>
                <a:tab pos="582930" algn="l"/>
              </a:tabLst>
            </a:pPr>
            <a:r>
              <a:rPr lang="en-US" b="1" dirty="0"/>
              <a:t>Solar</a:t>
            </a:r>
            <a:r>
              <a:rPr lang="en-US" b="1" spc="-65" dirty="0"/>
              <a:t> </a:t>
            </a:r>
            <a:r>
              <a:rPr lang="en-US" b="1" dirty="0"/>
              <a:t>&amp;</a:t>
            </a:r>
            <a:r>
              <a:rPr lang="en-US" b="1" spc="-55" dirty="0"/>
              <a:t> </a:t>
            </a:r>
            <a:r>
              <a:rPr lang="en-US" b="1" dirty="0"/>
              <a:t>Battery</a:t>
            </a:r>
            <a:r>
              <a:rPr lang="en-US" b="1" spc="-80" dirty="0"/>
              <a:t> </a:t>
            </a:r>
            <a:r>
              <a:rPr lang="en-US" b="1" dirty="0"/>
              <a:t>Optimization</a:t>
            </a:r>
            <a:r>
              <a:rPr lang="en-US" b="1" spc="-60" dirty="0"/>
              <a:t> </a:t>
            </a:r>
            <a:endParaRPr lang="en-US" b="1" spc="-50" dirty="0"/>
          </a:p>
          <a:p>
            <a:pPr marL="125730" marR="826769" indent="0">
              <a:lnSpc>
                <a:spcPct val="120000"/>
              </a:lnSpc>
              <a:buNone/>
              <a:tabLst>
                <a:tab pos="582930" algn="l"/>
              </a:tabLst>
            </a:pPr>
            <a:r>
              <a:rPr lang="en-US" b="1" spc="-50" dirty="0"/>
              <a:t>		</a:t>
            </a:r>
            <a:r>
              <a:rPr lang="en-US" spc="-50" dirty="0"/>
              <a:t> </a:t>
            </a:r>
            <a:r>
              <a:rPr lang="en-US" dirty="0"/>
              <a:t>Extended</a:t>
            </a:r>
            <a:r>
              <a:rPr lang="en-US" spc="-95" dirty="0"/>
              <a:t> </a:t>
            </a:r>
            <a:r>
              <a:rPr lang="en-US" dirty="0"/>
              <a:t>autonomous</a:t>
            </a:r>
            <a:r>
              <a:rPr lang="en-US" spc="-95" dirty="0"/>
              <a:t> </a:t>
            </a:r>
            <a:r>
              <a:rPr lang="en-US" spc="-10" dirty="0"/>
              <a:t>operation, </a:t>
            </a:r>
            <a:r>
              <a:rPr lang="en-US" dirty="0"/>
              <a:t>reduced</a:t>
            </a:r>
            <a:r>
              <a:rPr lang="en-US" spc="-95" dirty="0"/>
              <a:t> </a:t>
            </a:r>
            <a:r>
              <a:rPr lang="en-US" dirty="0"/>
              <a:t>energy</a:t>
            </a:r>
            <a:r>
              <a:rPr lang="en-US" spc="-105" dirty="0"/>
              <a:t> </a:t>
            </a:r>
            <a:r>
              <a:rPr lang="en-US" spc="-20" dirty="0"/>
              <a:t>costs</a:t>
            </a:r>
            <a:endParaRPr lang="en-US" dirty="0"/>
          </a:p>
          <a:p>
            <a:pPr marL="582930" marR="97155" indent="-457200">
              <a:lnSpc>
                <a:spcPct val="120000"/>
              </a:lnSpc>
              <a:spcBef>
                <a:spcPts val="5"/>
              </a:spcBef>
              <a:buFont typeface="+mj-lt"/>
              <a:buAutoNum type="arabicPeriod" startAt="7"/>
              <a:tabLst>
                <a:tab pos="582930" algn="l"/>
              </a:tabLst>
            </a:pPr>
            <a:r>
              <a:rPr lang="en-US" b="1" dirty="0"/>
              <a:t>Farm</a:t>
            </a:r>
            <a:r>
              <a:rPr lang="en-US" b="1" spc="-95" dirty="0"/>
              <a:t> </a:t>
            </a:r>
            <a:r>
              <a:rPr lang="en-US" b="1" spc="-10" dirty="0"/>
              <a:t>Equipment</a:t>
            </a:r>
            <a:r>
              <a:rPr lang="en-US" b="1" spc="-80" dirty="0"/>
              <a:t> </a:t>
            </a:r>
            <a:r>
              <a:rPr lang="en-US" b="1" spc="-10" dirty="0"/>
              <a:t>Interoperability </a:t>
            </a:r>
          </a:p>
          <a:p>
            <a:pPr marL="125730" marR="97155" indent="0">
              <a:lnSpc>
                <a:spcPct val="120000"/>
              </a:lnSpc>
              <a:spcBef>
                <a:spcPts val="5"/>
              </a:spcBef>
              <a:buNone/>
              <a:tabLst>
                <a:tab pos="582930" algn="l"/>
              </a:tabLst>
            </a:pPr>
            <a:r>
              <a:rPr lang="en-US" b="1" spc="-10" dirty="0"/>
              <a:t>		</a:t>
            </a:r>
            <a:r>
              <a:rPr lang="en-US" dirty="0"/>
              <a:t>Seamless</a:t>
            </a:r>
            <a:r>
              <a:rPr lang="en-US" spc="-80" dirty="0"/>
              <a:t> </a:t>
            </a:r>
            <a:r>
              <a:rPr lang="en-US" spc="-10" dirty="0"/>
              <a:t>integration</a:t>
            </a:r>
            <a:r>
              <a:rPr lang="en-US" spc="-70" dirty="0"/>
              <a:t> </a:t>
            </a:r>
            <a:r>
              <a:rPr lang="en-US" dirty="0"/>
              <a:t>with</a:t>
            </a:r>
            <a:r>
              <a:rPr lang="en-US" spc="-65" dirty="0"/>
              <a:t> </a:t>
            </a:r>
            <a:r>
              <a:rPr lang="en-US" dirty="0"/>
              <a:t>existing</a:t>
            </a:r>
            <a:r>
              <a:rPr lang="en-US" spc="-85" dirty="0"/>
              <a:t> </a:t>
            </a:r>
            <a:r>
              <a:rPr lang="en-US" spc="-20" dirty="0"/>
              <a:t>farm </a:t>
            </a:r>
            <a:r>
              <a:rPr lang="en-US" spc="-10" dirty="0"/>
              <a:t>machinery.</a:t>
            </a:r>
          </a:p>
          <a:p>
            <a:endParaRPr lang="en-IN" dirty="0"/>
          </a:p>
        </p:txBody>
      </p:sp>
      <p:pic>
        <p:nvPicPr>
          <p:cNvPr id="4" name="Picture 3">
            <a:extLst>
              <a:ext uri="{FF2B5EF4-FFF2-40B4-BE49-F238E27FC236}">
                <a16:creationId xmlns:a16="http://schemas.microsoft.com/office/drawing/2014/main" id="{55FF640F-3FFE-48AA-5FA9-9C9675468A50}"/>
              </a:ext>
            </a:extLst>
          </p:cNvPr>
          <p:cNvPicPr>
            <a:picLocks noChangeAspect="1"/>
          </p:cNvPicPr>
          <p:nvPr/>
        </p:nvPicPr>
        <p:blipFill>
          <a:blip r:embed="rId2"/>
          <a:stretch>
            <a:fillRect/>
          </a:stretch>
        </p:blipFill>
        <p:spPr>
          <a:xfrm>
            <a:off x="228600" y="141262"/>
            <a:ext cx="1672059" cy="914082"/>
          </a:xfrm>
          <a:prstGeom prst="rect">
            <a:avLst/>
          </a:prstGeom>
        </p:spPr>
      </p:pic>
      <p:sp>
        <p:nvSpPr>
          <p:cNvPr id="5" name="Footer Placeholder 3">
            <a:extLst>
              <a:ext uri="{FF2B5EF4-FFF2-40B4-BE49-F238E27FC236}">
                <a16:creationId xmlns:a16="http://schemas.microsoft.com/office/drawing/2014/main" id="{A058C670-F56C-A96D-7300-AE87DD83F4D7}"/>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extLst>
      <p:ext uri="{BB962C8B-B14F-4D97-AF65-F5344CB8AC3E}">
        <p14:creationId xmlns:p14="http://schemas.microsoft.com/office/powerpoint/2010/main" val="213665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5"/>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References</a:t>
            </a:r>
            <a:endParaRPr/>
          </a:p>
        </p:txBody>
      </p:sp>
      <p:sp>
        <p:nvSpPr>
          <p:cNvPr id="191" name="Google Shape;191;p15"/>
          <p:cNvSpPr txBox="1">
            <a:spLocks noGrp="1"/>
          </p:cNvSpPr>
          <p:nvPr>
            <p:ph type="body" idx="1"/>
          </p:nvPr>
        </p:nvSpPr>
        <p:spPr>
          <a:xfrm>
            <a:off x="457200" y="1293812"/>
            <a:ext cx="8407667" cy="5289550"/>
          </a:xfrm>
          <a:prstGeom prst="rect">
            <a:avLst/>
          </a:prstGeom>
          <a:noFill/>
          <a:ln>
            <a:noFill/>
          </a:ln>
        </p:spPr>
        <p:txBody>
          <a:bodyPr spcFirstLastPara="1" wrap="square" lIns="91425" tIns="45700" rIns="91425" bIns="45700" anchor="t" anchorCtr="0">
            <a:noAutofit/>
          </a:bodyPr>
          <a:lstStyle/>
          <a:p>
            <a:pPr lvl="0" eaLnBrk="0" fontAlgn="base" hangingPunct="0">
              <a:spcBef>
                <a:spcPct val="0"/>
              </a:spcBef>
              <a:spcAft>
                <a:spcPct val="0"/>
              </a:spcAft>
              <a:buFont typeface="+mj-lt"/>
              <a:buAutoNum type="arabicPeriod"/>
            </a:pPr>
            <a:r>
              <a:rPr lang="en-IN" sz="1700" dirty="0">
                <a:latin typeface="Times New Roman" panose="02020603050405020304" pitchFamily="18" charset="0"/>
                <a:cs typeface="Times New Roman" panose="02020603050405020304" pitchFamily="18" charset="0"/>
              </a:rPr>
              <a:t>M. Ayaz, M. Ammad-Uddin, Z. Sharif, A. Mansour and E. -H. M. Aggoune, "Internet-of-Things (IoT)-Based Smart Agriculture: Toward Making the Fields Talk," in IEEE Access, vol. 7, pp. 129551-129583, 2019, doi:10.1109/ACCESS.2019.2932609. </a:t>
            </a:r>
          </a:p>
          <a:p>
            <a:pPr lvl="0" eaLnBrk="0" fontAlgn="base" hangingPunct="0">
              <a:spcBef>
                <a:spcPct val="0"/>
              </a:spcBef>
              <a:spcAft>
                <a:spcPct val="0"/>
              </a:spcAft>
              <a:buFont typeface="+mj-lt"/>
              <a:buAutoNum type="arabicPeriod"/>
            </a:pPr>
            <a:endParaRPr lang="en-IN" sz="17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 typeface="+mj-lt"/>
              <a:buAutoNum type="arabicPeriod"/>
            </a:pPr>
            <a:r>
              <a:rPr lang="en-IN" sz="1700" dirty="0">
                <a:latin typeface="Times New Roman" panose="02020603050405020304" pitchFamily="18" charset="0"/>
                <a:cs typeface="Times New Roman" panose="02020603050405020304" pitchFamily="18" charset="0"/>
              </a:rPr>
              <a:t>M. N. Islam Sarker, M. Wu, B. </a:t>
            </a:r>
            <a:r>
              <a:rPr lang="en-IN" sz="1700" dirty="0" err="1">
                <a:latin typeface="Times New Roman" panose="02020603050405020304" pitchFamily="18" charset="0"/>
                <a:cs typeface="Times New Roman" panose="02020603050405020304" pitchFamily="18" charset="0"/>
              </a:rPr>
              <a:t>Chanthamith</a:t>
            </a:r>
            <a:r>
              <a:rPr lang="en-IN" sz="1700" dirty="0">
                <a:latin typeface="Times New Roman" panose="02020603050405020304" pitchFamily="18" charset="0"/>
                <a:cs typeface="Times New Roman" panose="02020603050405020304" pitchFamily="18" charset="0"/>
              </a:rPr>
              <a:t>, S. </a:t>
            </a:r>
            <a:r>
              <a:rPr lang="en-IN" sz="1700" dirty="0" err="1">
                <a:latin typeface="Times New Roman" panose="02020603050405020304" pitchFamily="18" charset="0"/>
                <a:cs typeface="Times New Roman" panose="02020603050405020304" pitchFamily="18" charset="0"/>
              </a:rPr>
              <a:t>Yusufzada</a:t>
            </a:r>
            <a:r>
              <a:rPr lang="en-IN" sz="1700" dirty="0">
                <a:latin typeface="Times New Roman" panose="02020603050405020304" pitchFamily="18" charset="0"/>
                <a:cs typeface="Times New Roman" panose="02020603050405020304" pitchFamily="18" charset="0"/>
              </a:rPr>
              <a:t>, D. Li and J. Zhang, "Big Data Driven Smart Agriculture: Pathway for Sustainable Development," 2019 2nd International Conference on Artificial Intelligence and Big Data (ICAIBD), Chengdu, China, 2019, pp. 60-65,doi:0.1109/ICAIBD.2019.8836982. </a:t>
            </a:r>
          </a:p>
          <a:p>
            <a:pPr lvl="0" eaLnBrk="0" fontAlgn="base" hangingPunct="0">
              <a:spcBef>
                <a:spcPct val="0"/>
              </a:spcBef>
              <a:spcAft>
                <a:spcPct val="0"/>
              </a:spcAft>
              <a:buFont typeface="+mj-lt"/>
              <a:buAutoNum type="arabicPeriod"/>
            </a:pPr>
            <a:endParaRPr lang="en-IN" sz="17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 typeface="+mj-lt"/>
              <a:buAutoNum type="arabicPeriod"/>
            </a:pPr>
            <a:r>
              <a:rPr lang="en-IN" sz="1700" dirty="0">
                <a:latin typeface="Times New Roman" panose="02020603050405020304" pitchFamily="18" charset="0"/>
                <a:cs typeface="Times New Roman" panose="02020603050405020304" pitchFamily="18" charset="0"/>
              </a:rPr>
              <a:t>P. Revathi and C. Rajasekaran, "Energy efficient wireless monitoring system for </a:t>
            </a:r>
            <a:r>
              <a:rPr lang="en-IN" sz="1700" dirty="0" err="1">
                <a:latin typeface="Times New Roman" panose="02020603050405020304" pitchFamily="18" charset="0"/>
                <a:cs typeface="Times New Roman" panose="02020603050405020304" pitchFamily="18" charset="0"/>
              </a:rPr>
              <a:t>Agarian</a:t>
            </a:r>
            <a:r>
              <a:rPr lang="en-IN" sz="1700" dirty="0">
                <a:latin typeface="Times New Roman" panose="02020603050405020304" pitchFamily="18" charset="0"/>
                <a:cs typeface="Times New Roman" panose="02020603050405020304" pitchFamily="18" charset="0"/>
              </a:rPr>
              <a:t> areas in Indian agricultural system using GPRS module," 2015 International Conference on Communications and Signal Processing (ICCSP), </a:t>
            </a:r>
            <a:r>
              <a:rPr lang="en-IN" sz="1700" dirty="0" err="1">
                <a:latin typeface="Times New Roman" panose="02020603050405020304" pitchFamily="18" charset="0"/>
                <a:cs typeface="Times New Roman" panose="02020603050405020304" pitchFamily="18" charset="0"/>
              </a:rPr>
              <a:t>Melmaruvathur</a:t>
            </a:r>
            <a:r>
              <a:rPr lang="en-IN" sz="1700" dirty="0">
                <a:latin typeface="Times New Roman" panose="02020603050405020304" pitchFamily="18" charset="0"/>
                <a:cs typeface="Times New Roman" panose="02020603050405020304" pitchFamily="18" charset="0"/>
              </a:rPr>
              <a:t>, India, 2015, pp. 0322-0326, </a:t>
            </a:r>
            <a:r>
              <a:rPr lang="en-IN" sz="1700" dirty="0" err="1">
                <a:latin typeface="Times New Roman" panose="02020603050405020304" pitchFamily="18" charset="0"/>
                <a:cs typeface="Times New Roman" panose="02020603050405020304" pitchFamily="18" charset="0"/>
              </a:rPr>
              <a:t>doi</a:t>
            </a:r>
            <a:r>
              <a:rPr lang="en-IN" sz="1700" dirty="0">
                <a:latin typeface="Times New Roman" panose="02020603050405020304" pitchFamily="18" charset="0"/>
                <a:cs typeface="Times New Roman" panose="02020603050405020304" pitchFamily="18" charset="0"/>
              </a:rPr>
              <a:t>: 10.1109/ICCSP.2015.7322897.</a:t>
            </a:r>
          </a:p>
          <a:p>
            <a:pPr lvl="0" eaLnBrk="0" fontAlgn="base" hangingPunct="0">
              <a:spcBef>
                <a:spcPct val="0"/>
              </a:spcBef>
              <a:spcAft>
                <a:spcPct val="0"/>
              </a:spcAft>
              <a:buFont typeface="+mj-lt"/>
              <a:buAutoNum type="arabicPeriod"/>
            </a:pPr>
            <a:endParaRPr lang="en-IN" sz="17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 typeface="+mj-lt"/>
              <a:buAutoNum type="arabicPeriod"/>
            </a:pPr>
            <a:r>
              <a:rPr lang="en-IN" sz="1700" dirty="0">
                <a:latin typeface="Times New Roman" panose="02020603050405020304" pitchFamily="18" charset="0"/>
                <a:cs typeface="Times New Roman" panose="02020603050405020304" pitchFamily="18" charset="0"/>
              </a:rPr>
              <a:t>V. Chittem, S. K. Mukunda, E. S. R. </a:t>
            </a:r>
            <a:r>
              <a:rPr lang="en-IN" sz="1700" dirty="0" err="1">
                <a:latin typeface="Times New Roman" panose="02020603050405020304" pitchFamily="18" charset="0"/>
                <a:cs typeface="Times New Roman" panose="02020603050405020304" pitchFamily="18" charset="0"/>
              </a:rPr>
              <a:t>Mudumala</a:t>
            </a:r>
            <a:r>
              <a:rPr lang="en-IN" sz="1700" dirty="0">
                <a:latin typeface="Times New Roman" panose="02020603050405020304" pitchFamily="18" charset="0"/>
                <a:cs typeface="Times New Roman" panose="02020603050405020304" pitchFamily="18" charset="0"/>
              </a:rPr>
              <a:t> and G. C. V, "Smart Saffron Cultivation: An IoT-Based Environmental Monitoring and Control System with GSM Alert Integration," 2025 10th International Conference on Communication and Electronics Systems (ICCES), Coimbatore, India, 2025, pp. 665-669, </a:t>
            </a:r>
            <a:r>
              <a:rPr lang="en-IN" sz="1700" dirty="0" err="1">
                <a:latin typeface="Times New Roman" panose="02020603050405020304" pitchFamily="18" charset="0"/>
                <a:cs typeface="Times New Roman" panose="02020603050405020304" pitchFamily="18" charset="0"/>
              </a:rPr>
              <a:t>doi</a:t>
            </a:r>
            <a:r>
              <a:rPr lang="en-IN" sz="1700" dirty="0">
                <a:latin typeface="Times New Roman" panose="02020603050405020304" pitchFamily="18" charset="0"/>
                <a:cs typeface="Times New Roman" panose="02020603050405020304" pitchFamily="18" charset="0"/>
              </a:rPr>
              <a:t>: 10.1109/ICCES67310.2025.11337189</a:t>
            </a:r>
            <a:endParaRPr sz="1700" dirty="0">
              <a:latin typeface="Times New Roman" panose="02020603050405020304" pitchFamily="18" charset="0"/>
              <a:ea typeface="Times New Roman"/>
              <a:cs typeface="Times New Roman" panose="02020603050405020304" pitchFamily="18" charset="0"/>
              <a:sym typeface="Times New Roman"/>
            </a:endParaRPr>
          </a:p>
        </p:txBody>
      </p:sp>
      <p:pic>
        <p:nvPicPr>
          <p:cNvPr id="2" name="Picture 1">
            <a:extLst>
              <a:ext uri="{FF2B5EF4-FFF2-40B4-BE49-F238E27FC236}">
                <a16:creationId xmlns:a16="http://schemas.microsoft.com/office/drawing/2014/main" id="{96924F80-C64D-7555-AC86-818FB3F26BF2}"/>
              </a:ext>
            </a:extLst>
          </p:cNvPr>
          <p:cNvPicPr>
            <a:picLocks noChangeAspect="1"/>
          </p:cNvPicPr>
          <p:nvPr/>
        </p:nvPicPr>
        <p:blipFill>
          <a:blip r:embed="rId3"/>
          <a:stretch>
            <a:fillRect/>
          </a:stretch>
        </p:blipFill>
        <p:spPr>
          <a:xfrm>
            <a:off x="228600" y="141262"/>
            <a:ext cx="1672059" cy="914082"/>
          </a:xfrm>
          <a:prstGeom prst="rect">
            <a:avLst/>
          </a:prstGeom>
        </p:spPr>
      </p:pic>
      <p:sp>
        <p:nvSpPr>
          <p:cNvPr id="3" name="Footer Placeholder 3">
            <a:extLst>
              <a:ext uri="{FF2B5EF4-FFF2-40B4-BE49-F238E27FC236}">
                <a16:creationId xmlns:a16="http://schemas.microsoft.com/office/drawing/2014/main" id="{1FBDC0E7-5C48-BEF0-87AF-890B724E9D4A}"/>
              </a:ext>
            </a:extLst>
          </p:cNvPr>
          <p:cNvSpPr>
            <a:spLocks noGrp="1"/>
          </p:cNvSpPr>
          <p:nvPr>
            <p:ph type="ftr" sz="quarter" idx="11"/>
          </p:nvPr>
        </p:nvSpPr>
        <p:spPr>
          <a:xfrm>
            <a:off x="457200" y="6356350"/>
            <a:ext cx="8229600" cy="425450"/>
          </a:xfrm>
        </p:spPr>
        <p:txBody>
          <a:bodyPr/>
          <a:lstStyle/>
          <a:p>
            <a:r>
              <a:rPr lang="en-US" dirty="0"/>
              <a:t>DEPARTMENT OF ELECTRONICS AND COMMUNICATION ENGINEERING</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1781</Words>
  <Application>Microsoft Office PowerPoint</Application>
  <PresentationFormat>On-screen Show (4:3)</PresentationFormat>
  <Paragraphs>236</Paragraphs>
  <Slides>17</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Tahoma</vt:lpstr>
      <vt:lpstr>Times New Roman</vt:lpstr>
      <vt:lpstr>Verdana</vt:lpstr>
      <vt:lpstr>Office Theme</vt:lpstr>
      <vt:lpstr>PROJECT TITLE AgriMind: A Mobile IoT-Robotic System for Paddy Monitoring</vt:lpstr>
      <vt:lpstr>AGENDA</vt:lpstr>
      <vt:lpstr>ABSTRACT</vt:lpstr>
      <vt:lpstr>Scope and Motivation</vt:lpstr>
      <vt:lpstr>Introduction</vt:lpstr>
      <vt:lpstr>Literature Survey</vt:lpstr>
      <vt:lpstr>OBJECTIVES</vt:lpstr>
      <vt:lpstr>PROBLEM STATEMENT</vt:lpstr>
      <vt:lpstr>BLOCK DIAGRAM</vt:lpstr>
      <vt:lpstr>NOVEL PROPOSED</vt:lpstr>
      <vt:lpstr>PROPOSED-MODULES</vt:lpstr>
      <vt:lpstr>SOFTWARE &amp; HARDWARE REQUIREMENTS</vt:lpstr>
      <vt:lpstr>MODULE OUTPUT </vt:lpstr>
      <vt:lpstr>RESULTS AND DISCUSSIONS</vt:lpstr>
      <vt:lpstr>CONCLUSION</vt:lpstr>
      <vt:lpstr>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 R M INSTITUTE OF SCIENCE AND TECHNOLOGY Chennai – 600 089 SCHOOL OF COMPUTER SCIENCE ENGINEERING  DEPARTMENT OF COMPUTER SCIENCE AND ENGINEERING</dc:title>
  <dc:creator>DELL</dc:creator>
  <cp:lastModifiedBy>Venkatesan V</cp:lastModifiedBy>
  <cp:revision>11</cp:revision>
  <dcterms:created xsi:type="dcterms:W3CDTF">2023-07-26T03:49:14Z</dcterms:created>
  <dcterms:modified xsi:type="dcterms:W3CDTF">2026-07-21T13:48:54Z</dcterms:modified>
</cp:coreProperties>
</file>